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72"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20" autoAdjust="0"/>
  </p:normalViewPr>
  <p:slideViewPr>
    <p:cSldViewPr snapToGrid="0" snapToObjects="1">
      <p:cViewPr varScale="1">
        <p:scale>
          <a:sx n="62" d="100"/>
          <a:sy n="62" d="100"/>
        </p:scale>
        <p:origin x="82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python/predicting-air-quality-index-using-python/" TargetMode="External"/><Relationship Id="rId2" Type="http://schemas.openxmlformats.org/officeDocument/2006/relationships/hyperlink" Target="https://archive.ics.uci.edu/dataset/360/air+quality" TargetMode="External"/><Relationship Id="rId1" Type="http://schemas.openxmlformats.org/officeDocument/2006/relationships/slideLayout" Target="../slideLayouts/slideLayout7.xml"/><Relationship Id="rId4" Type="http://schemas.openxmlformats.org/officeDocument/2006/relationships/hyperlink" Target="https://www.airnow.gov/sites/default/files/2020-05/aqi-technical-assistance-document-sept2018.pdf"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06DA4-9CBE-C260-5CD4-77E750166932}"/>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59633795-4E6F-6956-6C6A-5C606565CF40}"/>
              </a:ext>
            </a:extLst>
          </p:cNvPr>
          <p:cNvPicPr>
            <a:picLocks noChangeAspect="1"/>
          </p:cNvPicPr>
          <p:nvPr/>
        </p:nvPicPr>
        <p:blipFill>
          <a:blip r:embed="rId2"/>
          <a:srcRect t="13897" r="4191"/>
          <a:stretch>
            <a:fillRect/>
          </a:stretch>
        </p:blipFill>
        <p:spPr>
          <a:xfrm>
            <a:off x="-1" y="-1"/>
            <a:ext cx="12192001" cy="6858001"/>
          </a:xfrm>
          <a:prstGeom prst="rect">
            <a:avLst/>
          </a:prstGeom>
        </p:spPr>
      </p:pic>
      <p:sp>
        <p:nvSpPr>
          <p:cNvPr id="27" name="TextBox 26">
            <a:extLst>
              <a:ext uri="{FF2B5EF4-FFF2-40B4-BE49-F238E27FC236}">
                <a16:creationId xmlns:a16="http://schemas.microsoft.com/office/drawing/2014/main" id="{92F17AF2-1B21-40F4-574E-E17408AFC081}"/>
              </a:ext>
            </a:extLst>
          </p:cNvPr>
          <p:cNvSpPr txBox="1"/>
          <p:nvPr/>
        </p:nvSpPr>
        <p:spPr>
          <a:xfrm>
            <a:off x="777240" y="1417320"/>
            <a:ext cx="8686800" cy="320040"/>
          </a:xfrm>
          <a:prstGeom prst="rect">
            <a:avLst/>
          </a:prstGeom>
          <a:noFill/>
        </p:spPr>
        <p:txBody>
          <a:bodyPr wrap="square">
            <a:spAutoFit/>
          </a:bodyPr>
          <a:lstStyle/>
          <a:p>
            <a:pPr algn="l"/>
            <a:r>
              <a:rPr sz="1200" b="1" spc="150">
                <a:solidFill>
                  <a:srgbClr val="E8A33D"/>
                </a:solidFill>
                <a:latin typeface="Calibri"/>
              </a:rPr>
              <a:t>MBA652A PROJECT 1</a:t>
            </a:r>
          </a:p>
        </p:txBody>
      </p:sp>
      <p:sp>
        <p:nvSpPr>
          <p:cNvPr id="28" name="TextBox 27">
            <a:extLst>
              <a:ext uri="{FF2B5EF4-FFF2-40B4-BE49-F238E27FC236}">
                <a16:creationId xmlns:a16="http://schemas.microsoft.com/office/drawing/2014/main" id="{589A8EC8-9FA0-F6C1-2EE1-A8D86EE2EA64}"/>
              </a:ext>
            </a:extLst>
          </p:cNvPr>
          <p:cNvSpPr txBox="1"/>
          <p:nvPr/>
        </p:nvSpPr>
        <p:spPr>
          <a:xfrm>
            <a:off x="548640" y="1920240"/>
            <a:ext cx="9966960" cy="822960"/>
          </a:xfrm>
          <a:prstGeom prst="rect">
            <a:avLst/>
          </a:prstGeom>
          <a:noFill/>
        </p:spPr>
        <p:txBody>
          <a:bodyPr wrap="square">
            <a:spAutoFit/>
          </a:bodyPr>
          <a:lstStyle/>
          <a:p>
            <a:pPr algn="l"/>
            <a:r>
              <a:rPr sz="3400" b="1">
                <a:solidFill>
                  <a:srgbClr val="FFFFFF"/>
                </a:solidFill>
                <a:latin typeface="Cambria"/>
              </a:rPr>
              <a:t>Ordinary Least Squares (OLS) Regression</a:t>
            </a:r>
          </a:p>
        </p:txBody>
      </p:sp>
      <p:sp>
        <p:nvSpPr>
          <p:cNvPr id="29" name="TextBox 28">
            <a:extLst>
              <a:ext uri="{FF2B5EF4-FFF2-40B4-BE49-F238E27FC236}">
                <a16:creationId xmlns:a16="http://schemas.microsoft.com/office/drawing/2014/main" id="{6CE8A89C-8D1C-2ADC-F941-2092F24CB916}"/>
              </a:ext>
            </a:extLst>
          </p:cNvPr>
          <p:cNvSpPr txBox="1"/>
          <p:nvPr/>
        </p:nvSpPr>
        <p:spPr>
          <a:xfrm>
            <a:off x="548640" y="2606040"/>
            <a:ext cx="9966960" cy="822960"/>
          </a:xfrm>
          <a:prstGeom prst="rect">
            <a:avLst/>
          </a:prstGeom>
          <a:noFill/>
        </p:spPr>
        <p:txBody>
          <a:bodyPr wrap="square">
            <a:spAutoFit/>
          </a:bodyPr>
          <a:lstStyle/>
          <a:p>
            <a:pPr algn="l"/>
            <a:r>
              <a:rPr sz="3400" b="1">
                <a:solidFill>
                  <a:srgbClr val="FFFFFF"/>
                </a:solidFill>
                <a:latin typeface="Cambria"/>
              </a:rPr>
              <a:t>Analysis of Air Quality Index (AQI)</a:t>
            </a:r>
          </a:p>
        </p:txBody>
      </p:sp>
      <p:cxnSp>
        <p:nvCxnSpPr>
          <p:cNvPr id="30" name="Connector 8">
            <a:extLst>
              <a:ext uri="{FF2B5EF4-FFF2-40B4-BE49-F238E27FC236}">
                <a16:creationId xmlns:a16="http://schemas.microsoft.com/office/drawing/2014/main" id="{696BB114-AEA3-615B-F1A3-FB51E4A157AF}"/>
              </a:ext>
            </a:extLst>
          </p:cNvPr>
          <p:cNvCxnSpPr/>
          <p:nvPr/>
        </p:nvCxnSpPr>
        <p:spPr>
          <a:xfrm>
            <a:off x="5730088" y="4668220"/>
            <a:ext cx="2011680"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AE2F8D18-501D-53A3-44B7-4BF6D036E4B5}"/>
              </a:ext>
            </a:extLst>
          </p:cNvPr>
          <p:cNvSpPr txBox="1"/>
          <p:nvPr/>
        </p:nvSpPr>
        <p:spPr>
          <a:xfrm>
            <a:off x="457200" y="6510528"/>
            <a:ext cx="6400800" cy="274320"/>
          </a:xfrm>
          <a:prstGeom prst="rect">
            <a:avLst/>
          </a:prstGeom>
          <a:noFill/>
        </p:spPr>
        <p:txBody>
          <a:bodyPr wrap="none">
            <a:spAutoFit/>
          </a:bodyPr>
          <a:lstStyle/>
          <a:p>
            <a:pPr algn="l"/>
            <a:r>
              <a:rPr sz="900">
                <a:solidFill>
                  <a:srgbClr val="8891C2"/>
                </a:solidFill>
                <a:latin typeface="Calibri"/>
              </a:rPr>
              <a:t>MBA652A · OLS Regression Analysis of AQI</a:t>
            </a:r>
          </a:p>
        </p:txBody>
      </p:sp>
      <p:sp>
        <p:nvSpPr>
          <p:cNvPr id="33" name="TextBox 32">
            <a:extLst>
              <a:ext uri="{FF2B5EF4-FFF2-40B4-BE49-F238E27FC236}">
                <a16:creationId xmlns:a16="http://schemas.microsoft.com/office/drawing/2014/main" id="{3C6D7B58-2D65-F55C-D428-C95C0EC5B084}"/>
              </a:ext>
            </a:extLst>
          </p:cNvPr>
          <p:cNvSpPr txBox="1"/>
          <p:nvPr/>
        </p:nvSpPr>
        <p:spPr>
          <a:xfrm>
            <a:off x="5730088" y="4800600"/>
            <a:ext cx="3657600" cy="320040"/>
          </a:xfrm>
          <a:prstGeom prst="rect">
            <a:avLst/>
          </a:prstGeom>
          <a:noFill/>
        </p:spPr>
        <p:txBody>
          <a:bodyPr wrap="square">
            <a:spAutoFit/>
          </a:bodyPr>
          <a:lstStyle/>
          <a:p>
            <a:pPr algn="l"/>
            <a:r>
              <a:rPr sz="1200" b="1" spc="150">
                <a:solidFill>
                  <a:srgbClr val="E8A33D"/>
                </a:solidFill>
                <a:latin typeface="Calibri"/>
              </a:rPr>
              <a:t>GROUP MEMBERS</a:t>
            </a:r>
          </a:p>
        </p:txBody>
      </p:sp>
      <p:sp>
        <p:nvSpPr>
          <p:cNvPr id="34" name="TextBox 33">
            <a:extLst>
              <a:ext uri="{FF2B5EF4-FFF2-40B4-BE49-F238E27FC236}">
                <a16:creationId xmlns:a16="http://schemas.microsoft.com/office/drawing/2014/main" id="{3D0D28B5-309E-9D6C-0CAA-D14A09CF5A44}"/>
              </a:ext>
            </a:extLst>
          </p:cNvPr>
          <p:cNvSpPr txBox="1"/>
          <p:nvPr/>
        </p:nvSpPr>
        <p:spPr>
          <a:xfrm>
            <a:off x="5730088" y="5166360"/>
            <a:ext cx="2834640" cy="492443"/>
          </a:xfrm>
          <a:prstGeom prst="rect">
            <a:avLst/>
          </a:prstGeom>
          <a:noFill/>
        </p:spPr>
        <p:txBody>
          <a:bodyPr wrap="square">
            <a:spAutoFit/>
          </a:bodyPr>
          <a:lstStyle/>
          <a:p>
            <a:r>
              <a:rPr sz="1500" dirty="0">
                <a:solidFill>
                  <a:srgbClr val="FFFFFF"/>
                </a:solidFill>
                <a:latin typeface="Calibri"/>
              </a:rPr>
              <a:t>Subhasmita Mallick</a:t>
            </a:r>
          </a:p>
          <a:p>
            <a:r>
              <a:rPr sz="1100" dirty="0">
                <a:solidFill>
                  <a:srgbClr val="8891C2"/>
                </a:solidFill>
                <a:latin typeface="Calibri"/>
              </a:rPr>
              <a:t>251250051</a:t>
            </a:r>
          </a:p>
        </p:txBody>
      </p:sp>
      <p:sp>
        <p:nvSpPr>
          <p:cNvPr id="35" name="TextBox 34">
            <a:extLst>
              <a:ext uri="{FF2B5EF4-FFF2-40B4-BE49-F238E27FC236}">
                <a16:creationId xmlns:a16="http://schemas.microsoft.com/office/drawing/2014/main" id="{BD60F47F-A4DE-4DA3-0193-2F44EA2E4A54}"/>
              </a:ext>
            </a:extLst>
          </p:cNvPr>
          <p:cNvSpPr txBox="1"/>
          <p:nvPr/>
        </p:nvSpPr>
        <p:spPr>
          <a:xfrm>
            <a:off x="8747608" y="5166360"/>
            <a:ext cx="2834640" cy="548640"/>
          </a:xfrm>
          <a:prstGeom prst="rect">
            <a:avLst/>
          </a:prstGeom>
          <a:noFill/>
        </p:spPr>
        <p:txBody>
          <a:bodyPr wrap="square">
            <a:spAutoFit/>
          </a:bodyPr>
          <a:lstStyle/>
          <a:p>
            <a:r>
              <a:rPr sz="1500">
                <a:solidFill>
                  <a:srgbClr val="FFFFFF"/>
                </a:solidFill>
                <a:latin typeface="Calibri"/>
              </a:rPr>
              <a:t>Vikram Anand</a:t>
            </a:r>
          </a:p>
          <a:p>
            <a:r>
              <a:rPr sz="1100">
                <a:solidFill>
                  <a:srgbClr val="8891C2"/>
                </a:solidFill>
                <a:latin typeface="Calibri"/>
              </a:rPr>
              <a:t>251140027</a:t>
            </a:r>
          </a:p>
        </p:txBody>
      </p:sp>
      <p:sp>
        <p:nvSpPr>
          <p:cNvPr id="36" name="TextBox 35">
            <a:extLst>
              <a:ext uri="{FF2B5EF4-FFF2-40B4-BE49-F238E27FC236}">
                <a16:creationId xmlns:a16="http://schemas.microsoft.com/office/drawing/2014/main" id="{EBFE92F2-C43D-0F67-B633-27EDE2098648}"/>
              </a:ext>
            </a:extLst>
          </p:cNvPr>
          <p:cNvSpPr txBox="1"/>
          <p:nvPr/>
        </p:nvSpPr>
        <p:spPr>
          <a:xfrm>
            <a:off x="5730088" y="5806440"/>
            <a:ext cx="2834640" cy="548640"/>
          </a:xfrm>
          <a:prstGeom prst="rect">
            <a:avLst/>
          </a:prstGeom>
          <a:noFill/>
        </p:spPr>
        <p:txBody>
          <a:bodyPr wrap="square">
            <a:spAutoFit/>
          </a:bodyPr>
          <a:lstStyle/>
          <a:p>
            <a:r>
              <a:rPr sz="1500" dirty="0" err="1">
                <a:solidFill>
                  <a:srgbClr val="FFFFFF"/>
                </a:solidFill>
                <a:latin typeface="Calibri"/>
              </a:rPr>
              <a:t>Rajdatta</a:t>
            </a:r>
            <a:r>
              <a:rPr sz="1500" dirty="0">
                <a:solidFill>
                  <a:srgbClr val="FFFFFF"/>
                </a:solidFill>
                <a:latin typeface="Calibri"/>
              </a:rPr>
              <a:t> Kohale</a:t>
            </a:r>
          </a:p>
          <a:p>
            <a:r>
              <a:rPr sz="1100" dirty="0">
                <a:solidFill>
                  <a:srgbClr val="8891C2"/>
                </a:solidFill>
                <a:latin typeface="Calibri"/>
              </a:rPr>
              <a:t>251140018</a:t>
            </a:r>
          </a:p>
        </p:txBody>
      </p:sp>
      <p:sp>
        <p:nvSpPr>
          <p:cNvPr id="37" name="TextBox 36">
            <a:extLst>
              <a:ext uri="{FF2B5EF4-FFF2-40B4-BE49-F238E27FC236}">
                <a16:creationId xmlns:a16="http://schemas.microsoft.com/office/drawing/2014/main" id="{FD68979E-EF1B-FDC4-463F-BC7CA91E315F}"/>
              </a:ext>
            </a:extLst>
          </p:cNvPr>
          <p:cNvSpPr txBox="1"/>
          <p:nvPr/>
        </p:nvSpPr>
        <p:spPr>
          <a:xfrm>
            <a:off x="8747608" y="5806440"/>
            <a:ext cx="2834640" cy="492443"/>
          </a:xfrm>
          <a:prstGeom prst="rect">
            <a:avLst/>
          </a:prstGeom>
          <a:noFill/>
        </p:spPr>
        <p:txBody>
          <a:bodyPr wrap="square">
            <a:spAutoFit/>
          </a:bodyPr>
          <a:lstStyle/>
          <a:p>
            <a:r>
              <a:rPr sz="1500" dirty="0">
                <a:solidFill>
                  <a:srgbClr val="FFFFFF"/>
                </a:solidFill>
                <a:latin typeface="Calibri"/>
              </a:rPr>
              <a:t>Rohit Kumar</a:t>
            </a:r>
            <a:r>
              <a:rPr lang="en-IN" sz="1500" dirty="0">
                <a:solidFill>
                  <a:srgbClr val="FFFFFF"/>
                </a:solidFill>
                <a:latin typeface="Calibri"/>
              </a:rPr>
              <a:t> Singh</a:t>
            </a:r>
            <a:endParaRPr sz="1500" dirty="0">
              <a:solidFill>
                <a:srgbClr val="FFFFFF"/>
              </a:solidFill>
              <a:latin typeface="Calibri"/>
            </a:endParaRPr>
          </a:p>
          <a:p>
            <a:r>
              <a:rPr sz="1100" dirty="0">
                <a:solidFill>
                  <a:srgbClr val="8891C2"/>
                </a:solidFill>
                <a:latin typeface="Calibri"/>
              </a:rPr>
              <a:t>251140020</a:t>
            </a:r>
          </a:p>
        </p:txBody>
      </p:sp>
      <p:sp>
        <p:nvSpPr>
          <p:cNvPr id="2" name="TextBox 1">
            <a:extLst>
              <a:ext uri="{FF2B5EF4-FFF2-40B4-BE49-F238E27FC236}">
                <a16:creationId xmlns:a16="http://schemas.microsoft.com/office/drawing/2014/main" id="{B56469C3-370F-E556-C91D-9966659A4805}"/>
              </a:ext>
            </a:extLst>
          </p:cNvPr>
          <p:cNvSpPr txBox="1"/>
          <p:nvPr/>
        </p:nvSpPr>
        <p:spPr>
          <a:xfrm>
            <a:off x="5731116" y="4257532"/>
            <a:ext cx="1616962" cy="369332"/>
          </a:xfrm>
          <a:prstGeom prst="rect">
            <a:avLst/>
          </a:prstGeom>
          <a:noFill/>
        </p:spPr>
        <p:txBody>
          <a:bodyPr wrap="square" rtlCol="0">
            <a:spAutoFit/>
          </a:bodyPr>
          <a:lstStyle/>
          <a:p>
            <a:r>
              <a:rPr lang="en-IN" b="1" dirty="0">
                <a:solidFill>
                  <a:schemeClr val="bg1">
                    <a:lumMod val="95000"/>
                  </a:schemeClr>
                </a:solidFill>
              </a:rPr>
              <a:t>Group No.11 </a:t>
            </a:r>
          </a:p>
        </p:txBody>
      </p:sp>
    </p:spTree>
    <p:extLst>
      <p:ext uri="{BB962C8B-B14F-4D97-AF65-F5344CB8AC3E}">
        <p14:creationId xmlns:p14="http://schemas.microsoft.com/office/powerpoint/2010/main" val="221539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INTRODUCTION</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Introduction to the Problem and Objective</a:t>
            </a:r>
          </a:p>
        </p:txBody>
      </p:sp>
      <p:sp>
        <p:nvSpPr>
          <p:cNvPr id="5" name="TextBox 4"/>
          <p:cNvSpPr txBox="1"/>
          <p:nvPr/>
        </p:nvSpPr>
        <p:spPr>
          <a:xfrm>
            <a:off x="548640" y="1737360"/>
            <a:ext cx="11064240" cy="3722686"/>
          </a:xfrm>
          <a:prstGeom prst="rect">
            <a:avLst/>
          </a:prstGeom>
          <a:noFill/>
        </p:spPr>
        <p:txBody>
          <a:bodyPr wrap="square">
            <a:spAutoFit/>
          </a:bodyPr>
          <a:lstStyle/>
          <a:p>
            <a:pPr marL="256032" indent="-256032" algn="just">
              <a:lnSpc>
                <a:spcPct val="200000"/>
              </a:lnSpc>
              <a:spcAft>
                <a:spcPts val="2200"/>
              </a:spcAft>
              <a:buFont typeface="Arial"/>
              <a:buChar char="•"/>
            </a:pPr>
            <a:r>
              <a:rPr sz="1700" dirty="0">
                <a:solidFill>
                  <a:srgbClr val="1F2340"/>
                </a:solidFill>
                <a:latin typeface="Calibri"/>
              </a:rPr>
              <a:t>The primary objective involves modeling and predicting the overall Air Quality Index (AQI) based on localized environmental factors and chemical sensor responses.</a:t>
            </a:r>
          </a:p>
          <a:p>
            <a:pPr marL="256032" indent="-256032" algn="just">
              <a:lnSpc>
                <a:spcPct val="200000"/>
              </a:lnSpc>
              <a:spcAft>
                <a:spcPts val="2200"/>
              </a:spcAft>
              <a:buFont typeface="Arial"/>
              <a:buChar char="•"/>
            </a:pPr>
            <a:r>
              <a:rPr sz="1700" dirty="0">
                <a:solidFill>
                  <a:srgbClr val="1F2340"/>
                </a:solidFill>
                <a:latin typeface="Calibri"/>
              </a:rPr>
              <a:t>Translating raw, noisy chemical concentrations into a unified public health metric provides actionable insights for urban policy planning and pollution control.</a:t>
            </a:r>
          </a:p>
          <a:p>
            <a:pPr marL="256032" indent="-256032" algn="just">
              <a:lnSpc>
                <a:spcPct val="200000"/>
              </a:lnSpc>
              <a:spcAft>
                <a:spcPts val="2200"/>
              </a:spcAft>
              <a:buFont typeface="Arial"/>
              <a:buChar char="•"/>
            </a:pPr>
            <a:r>
              <a:rPr sz="1700" dirty="0">
                <a:solidFill>
                  <a:srgbClr val="1F2340"/>
                </a:solidFill>
                <a:latin typeface="Calibri"/>
              </a:rPr>
              <a:t>Predicting AQI dynamically allows municipal authorities to issue timely health advisories during periods of severe atmospheric degradation, ultimately protecting vulnerable populations.</a:t>
            </a:r>
          </a:p>
        </p:txBody>
      </p:sp>
      <p:sp>
        <p:nvSpPr>
          <p:cNvPr id="6" name="TextBox 5"/>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7" name="TextBox 6"/>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2</a:t>
            </a:r>
          </a:p>
        </p:txBody>
      </p:sp>
      <p:cxnSp>
        <p:nvCxnSpPr>
          <p:cNvPr id="10" name="Connector 8">
            <a:extLst>
              <a:ext uri="{FF2B5EF4-FFF2-40B4-BE49-F238E27FC236}">
                <a16:creationId xmlns:a16="http://schemas.microsoft.com/office/drawing/2014/main" id="{525B5EF6-9BCF-F3F6-8DA7-D087AC907D70}"/>
              </a:ext>
            </a:extLst>
          </p:cNvPr>
          <p:cNvCxnSpPr>
            <a:cxnSpLocks/>
          </p:cNvCxnSpPr>
          <p:nvPr/>
        </p:nvCxnSpPr>
        <p:spPr>
          <a:xfrm>
            <a:off x="664339" y="1261498"/>
            <a:ext cx="6968102"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MOTIVATION &amp; METHOD</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Motivation &amp; Method</a:t>
            </a:r>
          </a:p>
        </p:txBody>
      </p:sp>
      <p:sp>
        <p:nvSpPr>
          <p:cNvPr id="5" name="Rounded Rectangle 4"/>
          <p:cNvSpPr/>
          <p:nvPr/>
        </p:nvSpPr>
        <p:spPr>
          <a:xfrm>
            <a:off x="548640" y="1737360"/>
            <a:ext cx="5394960" cy="416052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965960"/>
            <a:ext cx="4754880" cy="353943"/>
          </a:xfrm>
          <a:prstGeom prst="rect">
            <a:avLst/>
          </a:prstGeom>
          <a:noFill/>
        </p:spPr>
        <p:txBody>
          <a:bodyPr wrap="square">
            <a:spAutoFit/>
          </a:bodyPr>
          <a:lstStyle/>
          <a:p>
            <a:pPr algn="ctr"/>
            <a:r>
              <a:rPr sz="1700" b="1" spc="100" dirty="0">
                <a:solidFill>
                  <a:srgbClr val="1E2761"/>
                </a:solidFill>
                <a:latin typeface="Calibri"/>
              </a:rPr>
              <a:t>ECONOMIC IMPACT</a:t>
            </a:r>
          </a:p>
        </p:txBody>
      </p:sp>
      <p:sp>
        <p:nvSpPr>
          <p:cNvPr id="7" name="TextBox 6"/>
          <p:cNvSpPr txBox="1"/>
          <p:nvPr/>
        </p:nvSpPr>
        <p:spPr>
          <a:xfrm>
            <a:off x="868680" y="2898648"/>
            <a:ext cx="4754880" cy="1874359"/>
          </a:xfrm>
          <a:prstGeom prst="rect">
            <a:avLst/>
          </a:prstGeom>
          <a:noFill/>
        </p:spPr>
        <p:txBody>
          <a:bodyPr wrap="square">
            <a:spAutoFit/>
          </a:bodyPr>
          <a:lstStyle/>
          <a:p>
            <a:pPr algn="just">
              <a:lnSpc>
                <a:spcPct val="200000"/>
              </a:lnSpc>
              <a:spcAft>
                <a:spcPts val="0"/>
              </a:spcAft>
            </a:pPr>
            <a:r>
              <a:rPr sz="1500" dirty="0">
                <a:solidFill>
                  <a:srgbClr val="1F2340"/>
                </a:solidFill>
                <a:latin typeface="Calibri"/>
              </a:rPr>
              <a:t>Prolonged exposure to poor air quality directly increases public healthcare costs, reduces overall workforce productivity, and negatively impacts local real estate valuations over time.</a:t>
            </a:r>
          </a:p>
        </p:txBody>
      </p:sp>
      <p:sp>
        <p:nvSpPr>
          <p:cNvPr id="8" name="Rounded Rectangle 7"/>
          <p:cNvSpPr/>
          <p:nvPr/>
        </p:nvSpPr>
        <p:spPr>
          <a:xfrm>
            <a:off x="6217920" y="1737360"/>
            <a:ext cx="5394960" cy="416052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965960"/>
            <a:ext cx="4754880" cy="353943"/>
          </a:xfrm>
          <a:prstGeom prst="rect">
            <a:avLst/>
          </a:prstGeom>
          <a:noFill/>
        </p:spPr>
        <p:txBody>
          <a:bodyPr wrap="square">
            <a:spAutoFit/>
          </a:bodyPr>
          <a:lstStyle/>
          <a:p>
            <a:pPr algn="ctr"/>
            <a:r>
              <a:rPr sz="1700" b="1" spc="100" dirty="0">
                <a:solidFill>
                  <a:srgbClr val="E8A33D"/>
                </a:solidFill>
                <a:latin typeface="Calibri"/>
              </a:rPr>
              <a:t>METHODOLOGY</a:t>
            </a:r>
          </a:p>
        </p:txBody>
      </p:sp>
      <p:sp>
        <p:nvSpPr>
          <p:cNvPr id="10" name="TextBox 9"/>
          <p:cNvSpPr txBox="1"/>
          <p:nvPr/>
        </p:nvSpPr>
        <p:spPr>
          <a:xfrm>
            <a:off x="6537960" y="2377440"/>
            <a:ext cx="4754880" cy="3253391"/>
          </a:xfrm>
          <a:prstGeom prst="rect">
            <a:avLst/>
          </a:prstGeom>
          <a:noFill/>
        </p:spPr>
        <p:txBody>
          <a:bodyPr wrap="square">
            <a:spAutoFit/>
          </a:bodyPr>
          <a:lstStyle/>
          <a:p>
            <a:pPr marL="256032" indent="-256032" algn="just">
              <a:lnSpc>
                <a:spcPct val="200000"/>
              </a:lnSpc>
              <a:spcAft>
                <a:spcPts val="1600"/>
              </a:spcAft>
              <a:buFont typeface="Arial"/>
              <a:buChar char="•"/>
            </a:pPr>
            <a:r>
              <a:rPr sz="1400" dirty="0">
                <a:solidFill>
                  <a:srgbClr val="CADCFC"/>
                </a:solidFill>
                <a:latin typeface="Calibri"/>
              </a:rPr>
              <a:t>Ordinary Least Squares (OLS) Multiple Linear Regression was employed as the primary analytical framework for this study.</a:t>
            </a:r>
          </a:p>
          <a:p>
            <a:pPr marL="256032" indent="-256032" algn="just">
              <a:lnSpc>
                <a:spcPct val="200000"/>
              </a:lnSpc>
              <a:spcAft>
                <a:spcPts val="1600"/>
              </a:spcAft>
              <a:buFont typeface="Arial"/>
              <a:buChar char="•"/>
            </a:pPr>
            <a:r>
              <a:rPr sz="1400" dirty="0">
                <a:solidFill>
                  <a:srgbClr val="CADCFC"/>
                </a:solidFill>
                <a:latin typeface="Calibri"/>
              </a:rPr>
              <a:t>This approach evaluates multiple continuous independent variables while rigorously diagnosing and correcting for structural model violations, specifically multicollinearity and heteroskedasticity.</a:t>
            </a:r>
          </a:p>
        </p:txBody>
      </p:sp>
      <p:sp>
        <p:nvSpPr>
          <p:cNvPr id="11" name="TextBox 10"/>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2" name="TextBox 11"/>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3</a:t>
            </a:r>
          </a:p>
        </p:txBody>
      </p:sp>
      <p:cxnSp>
        <p:nvCxnSpPr>
          <p:cNvPr id="13" name="Connector 8">
            <a:extLst>
              <a:ext uri="{FF2B5EF4-FFF2-40B4-BE49-F238E27FC236}">
                <a16:creationId xmlns:a16="http://schemas.microsoft.com/office/drawing/2014/main" id="{757C6C9C-01C3-4632-8024-2D5D5A376EAB}"/>
              </a:ext>
            </a:extLst>
          </p:cNvPr>
          <p:cNvCxnSpPr>
            <a:cxnSpLocks/>
          </p:cNvCxnSpPr>
          <p:nvPr/>
        </p:nvCxnSpPr>
        <p:spPr>
          <a:xfrm>
            <a:off x="664339" y="1261498"/>
            <a:ext cx="3431800"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DATA &amp; PREPROCESSING</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700" b="1">
                <a:solidFill>
                  <a:srgbClr val="1E2761"/>
                </a:solidFill>
                <a:latin typeface="Cambria"/>
              </a:rPr>
              <a:t>Data Source &amp; Cleaning Processing</a:t>
            </a:r>
          </a:p>
        </p:txBody>
      </p:sp>
      <p:sp>
        <p:nvSpPr>
          <p:cNvPr id="5" name="TextBox 4"/>
          <p:cNvSpPr txBox="1"/>
          <p:nvPr/>
        </p:nvSpPr>
        <p:spPr>
          <a:xfrm>
            <a:off x="548640" y="1691640"/>
            <a:ext cx="6949440" cy="4010457"/>
          </a:xfrm>
          <a:prstGeom prst="rect">
            <a:avLst/>
          </a:prstGeom>
          <a:noFill/>
        </p:spPr>
        <p:txBody>
          <a:bodyPr wrap="square">
            <a:spAutoFit/>
          </a:bodyPr>
          <a:lstStyle/>
          <a:p>
            <a:pPr marL="256032" indent="-256032" algn="just">
              <a:lnSpc>
                <a:spcPct val="200000"/>
              </a:lnSpc>
              <a:spcAft>
                <a:spcPts val="1600"/>
              </a:spcAft>
              <a:buFont typeface="Arial"/>
              <a:buChar char="•"/>
            </a:pPr>
            <a:r>
              <a:rPr sz="1450" dirty="0">
                <a:solidFill>
                  <a:srgbClr val="1F2340"/>
                </a:solidFill>
                <a:latin typeface="Calibri"/>
              </a:rPr>
              <a:t>Data originates directly from the UCI Machine Learning Repository, specifically the “Air Quality” dataset, comprising hourly averaged responses from an array of multi-sensor devices deployed across an Italian city.</a:t>
            </a:r>
          </a:p>
          <a:p>
            <a:pPr marL="256032" indent="-256032" algn="just">
              <a:lnSpc>
                <a:spcPct val="200000"/>
              </a:lnSpc>
              <a:spcAft>
                <a:spcPts val="1600"/>
              </a:spcAft>
              <a:buFont typeface="Arial"/>
              <a:buChar char="•"/>
            </a:pPr>
            <a:r>
              <a:rPr sz="1450" dirty="0">
                <a:solidFill>
                  <a:srgbClr val="1F2340"/>
                </a:solidFill>
                <a:latin typeface="Calibri"/>
              </a:rPr>
              <a:t>During the cleaning phase, the dataset's default missing value placeholders were replaced with standard </a:t>
            </a:r>
            <a:r>
              <a:rPr sz="1450" dirty="0" err="1">
                <a:solidFill>
                  <a:srgbClr val="1F2340"/>
                </a:solidFill>
                <a:latin typeface="Calibri"/>
              </a:rPr>
              <a:t>NaNs</a:t>
            </a:r>
            <a:r>
              <a:rPr sz="1450" dirty="0">
                <a:solidFill>
                  <a:srgbClr val="1F2340"/>
                </a:solidFill>
                <a:latin typeface="Calibri"/>
              </a:rPr>
              <a:t>, empty trailing rows were removed, and instances of missing target data were dropped.</a:t>
            </a:r>
          </a:p>
          <a:p>
            <a:pPr marL="256032" indent="-256032" algn="just">
              <a:lnSpc>
                <a:spcPct val="200000"/>
              </a:lnSpc>
              <a:spcAft>
                <a:spcPts val="1600"/>
              </a:spcAft>
              <a:buFont typeface="Arial"/>
              <a:buChar char="•"/>
            </a:pPr>
            <a:r>
              <a:rPr sz="1450" dirty="0">
                <a:solidFill>
                  <a:srgbClr val="1F2340"/>
                </a:solidFill>
                <a:latin typeface="Calibri"/>
              </a:rPr>
              <a:t>Following this rigorous preprocessing, the final dataset yielded 827 hourly observations for continuous OLS estimation.</a:t>
            </a:r>
          </a:p>
        </p:txBody>
      </p:sp>
      <p:sp>
        <p:nvSpPr>
          <p:cNvPr id="6" name="Rounded Rectangle 5"/>
          <p:cNvSpPr/>
          <p:nvPr/>
        </p:nvSpPr>
        <p:spPr>
          <a:xfrm>
            <a:off x="7863840" y="2194560"/>
            <a:ext cx="3749039" cy="283464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38160" y="2468880"/>
            <a:ext cx="3200400" cy="353943"/>
          </a:xfrm>
          <a:prstGeom prst="rect">
            <a:avLst/>
          </a:prstGeom>
          <a:noFill/>
        </p:spPr>
        <p:txBody>
          <a:bodyPr wrap="square">
            <a:spAutoFit/>
          </a:bodyPr>
          <a:lstStyle/>
          <a:p>
            <a:pPr algn="ctr"/>
            <a:r>
              <a:rPr sz="1700" b="1" spc="100" dirty="0">
                <a:solidFill>
                  <a:srgbClr val="E8A33D"/>
                </a:solidFill>
                <a:latin typeface="Calibri"/>
              </a:rPr>
              <a:t>FINAL SAMPLE SIZE</a:t>
            </a:r>
          </a:p>
        </p:txBody>
      </p:sp>
      <p:sp>
        <p:nvSpPr>
          <p:cNvPr id="8" name="TextBox 7"/>
          <p:cNvSpPr txBox="1"/>
          <p:nvPr/>
        </p:nvSpPr>
        <p:spPr>
          <a:xfrm>
            <a:off x="8138160" y="2926080"/>
            <a:ext cx="3200400" cy="1097280"/>
          </a:xfrm>
          <a:prstGeom prst="rect">
            <a:avLst/>
          </a:prstGeom>
          <a:noFill/>
        </p:spPr>
        <p:txBody>
          <a:bodyPr wrap="none">
            <a:spAutoFit/>
          </a:bodyPr>
          <a:lstStyle/>
          <a:p>
            <a:pPr algn="ctr"/>
            <a:r>
              <a:rPr sz="5400" b="1">
                <a:solidFill>
                  <a:srgbClr val="FFFFFF"/>
                </a:solidFill>
                <a:latin typeface="Cambria"/>
              </a:rPr>
              <a:t>827</a:t>
            </a:r>
          </a:p>
        </p:txBody>
      </p:sp>
      <p:sp>
        <p:nvSpPr>
          <p:cNvPr id="9" name="TextBox 8"/>
          <p:cNvSpPr txBox="1"/>
          <p:nvPr/>
        </p:nvSpPr>
        <p:spPr>
          <a:xfrm>
            <a:off x="8138160" y="4069080"/>
            <a:ext cx="3200400" cy="477054"/>
          </a:xfrm>
          <a:prstGeom prst="rect">
            <a:avLst/>
          </a:prstGeom>
          <a:noFill/>
        </p:spPr>
        <p:txBody>
          <a:bodyPr wrap="square">
            <a:spAutoFit/>
          </a:bodyPr>
          <a:lstStyle/>
          <a:p>
            <a:pPr algn="ctr"/>
            <a:r>
              <a:rPr sz="1250" b="0" i="0" dirty="0">
                <a:solidFill>
                  <a:srgbClr val="CADCFC"/>
                </a:solidFill>
                <a:latin typeface="Calibri"/>
              </a:rPr>
              <a:t>hourly observations, for continuous OLS estimation</a:t>
            </a:r>
          </a:p>
        </p:txBody>
      </p:sp>
      <p:sp>
        <p:nvSpPr>
          <p:cNvPr id="10" name="TextBox 9"/>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1" name="TextBox 10"/>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4</a:t>
            </a:r>
          </a:p>
        </p:txBody>
      </p:sp>
      <p:cxnSp>
        <p:nvCxnSpPr>
          <p:cNvPr id="12" name="Connector 8">
            <a:extLst>
              <a:ext uri="{FF2B5EF4-FFF2-40B4-BE49-F238E27FC236}">
                <a16:creationId xmlns:a16="http://schemas.microsoft.com/office/drawing/2014/main" id="{B17892B6-C319-0D95-3778-A4E9EDD53DCF}"/>
              </a:ext>
            </a:extLst>
          </p:cNvPr>
          <p:cNvCxnSpPr>
            <a:cxnSpLocks/>
          </p:cNvCxnSpPr>
          <p:nvPr/>
        </p:nvCxnSpPr>
        <p:spPr>
          <a:xfrm>
            <a:off x="664339" y="1261498"/>
            <a:ext cx="5325914"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FEATURE ENGINEERING</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Engineering the Dependent Variable (Y)</a:t>
            </a:r>
          </a:p>
        </p:txBody>
      </p:sp>
      <p:sp>
        <p:nvSpPr>
          <p:cNvPr id="5" name="TextBox 4"/>
          <p:cNvSpPr txBox="1"/>
          <p:nvPr/>
        </p:nvSpPr>
        <p:spPr>
          <a:xfrm>
            <a:off x="548640" y="1645920"/>
            <a:ext cx="11064240" cy="749051"/>
          </a:xfrm>
          <a:prstGeom prst="rect">
            <a:avLst/>
          </a:prstGeom>
          <a:noFill/>
        </p:spPr>
        <p:txBody>
          <a:bodyPr wrap="square">
            <a:spAutoFit/>
          </a:bodyPr>
          <a:lstStyle/>
          <a:p>
            <a:pPr marL="256032" indent="-256032" algn="just">
              <a:lnSpc>
                <a:spcPct val="150000"/>
              </a:lnSpc>
              <a:spcAft>
                <a:spcPts val="0"/>
              </a:spcAft>
              <a:buFont typeface="Arial"/>
              <a:buChar char="•"/>
            </a:pPr>
            <a:r>
              <a:rPr sz="1500" dirty="0">
                <a:solidFill>
                  <a:srgbClr val="1F2340"/>
                </a:solidFill>
                <a:latin typeface="Calibri"/>
              </a:rPr>
              <a:t>Rather than predicting a single raw chemical output, a continuous AQI score was engineered based on the standard EPA piecewise formula.</a:t>
            </a:r>
          </a:p>
        </p:txBody>
      </p:sp>
      <mc:AlternateContent xmlns:mc="http://schemas.openxmlformats.org/markup-compatibility/2006" xmlns:a14="http://schemas.microsoft.com/office/drawing/2010/main">
        <mc:Choice Requires="a14">
          <p:sp>
            <p:nvSpPr>
              <p:cNvPr id="6" name="Rounded Rectangle 5"/>
              <p:cNvSpPr/>
              <p:nvPr/>
            </p:nvSpPr>
            <p:spPr>
              <a:xfrm>
                <a:off x="3747253" y="2413259"/>
                <a:ext cx="4355372" cy="1015741"/>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14:m>
                  <m:oMathPara xmlns:m="http://schemas.openxmlformats.org/officeDocument/2006/math">
                    <m:oMath>
                      <m:r>
                        <a:rPr lang="en-IN" b="0" i="1" smtClean="0">
                          <a:solidFill>
                            <a:srgbClr val="FFFFFF"/>
                          </a:solidFill>
                          <a:latin typeface="Cambria Math" panose="02040503050406030204" pitchFamily="18" charset="0"/>
                        </a:rPr>
                        <m:t>𝑌</m:t>
                      </m:r>
                      <m:r>
                        <a:rPr lang="en-IN" i="1" smtClean="0">
                          <a:solidFill>
                            <a:srgbClr val="FFFFFF"/>
                          </a:solidFill>
                          <a:latin typeface="Cambria Math" panose="02040503050406030204" pitchFamily="18" charset="0"/>
                        </a:rPr>
                        <m:t>=</m:t>
                      </m:r>
                      <m:f>
                        <m:fPr>
                          <m:ctrlPr>
                            <a:rPr lang="en-IN" i="1" smtClean="0">
                              <a:solidFill>
                                <a:srgbClr val="FFFFFF"/>
                              </a:solidFill>
                              <a:latin typeface="Cambria Math" panose="02040503050406030204" pitchFamily="18" charset="0"/>
                            </a:rPr>
                          </m:ctrlPr>
                        </m:fPr>
                        <m:num>
                          <m:sSub>
                            <m:sSubPr>
                              <m:ctrlPr>
                                <a:rPr lang="en-IN" i="1" smtClean="0">
                                  <a:solidFill>
                                    <a:srgbClr val="FFFFFF"/>
                                  </a:solidFill>
                                  <a:latin typeface="Cambria Math" panose="02040503050406030204" pitchFamily="18" charset="0"/>
                                </a:rPr>
                              </m:ctrlPr>
                            </m:sSubPr>
                            <m:e>
                              <m:r>
                                <a:rPr lang="en-IN" i="1" smtClean="0">
                                  <a:solidFill>
                                    <a:srgbClr val="FFFFFF"/>
                                  </a:solidFill>
                                  <a:latin typeface="Cambria Math" panose="02040503050406030204" pitchFamily="18" charset="0"/>
                                </a:rPr>
                                <m:t>𝐼</m:t>
                              </m:r>
                            </m:e>
                            <m:sub>
                              <m:r>
                                <a:rPr lang="en-IN" i="1" smtClean="0">
                                  <a:solidFill>
                                    <a:srgbClr val="FFFFFF"/>
                                  </a:solidFill>
                                  <a:latin typeface="Cambria Math" panose="02040503050406030204" pitchFamily="18" charset="0"/>
                                </a:rPr>
                                <m:t>𝐻𝐼</m:t>
                              </m:r>
                            </m:sub>
                          </m:sSub>
                          <m:r>
                            <a:rPr lang="en-IN" i="1" smtClean="0">
                              <a:solidFill>
                                <a:srgbClr val="FFFFFF"/>
                              </a:solidFill>
                              <a:latin typeface="Cambria Math" panose="02040503050406030204" pitchFamily="18" charset="0"/>
                            </a:rPr>
                            <m:t>−</m:t>
                          </m:r>
                          <m:sSub>
                            <m:sSubPr>
                              <m:ctrlPr>
                                <a:rPr lang="en-IN" i="1" smtClean="0">
                                  <a:solidFill>
                                    <a:srgbClr val="FFFFFF"/>
                                  </a:solidFill>
                                  <a:latin typeface="Cambria Math" panose="02040503050406030204" pitchFamily="18" charset="0"/>
                                </a:rPr>
                              </m:ctrlPr>
                            </m:sSubPr>
                            <m:e>
                              <m:r>
                                <a:rPr lang="en-IN" i="1" smtClean="0">
                                  <a:solidFill>
                                    <a:srgbClr val="FFFFFF"/>
                                  </a:solidFill>
                                  <a:latin typeface="Cambria Math" panose="02040503050406030204" pitchFamily="18" charset="0"/>
                                </a:rPr>
                                <m:t>𝐼</m:t>
                              </m:r>
                            </m:e>
                            <m:sub>
                              <m:r>
                                <a:rPr lang="en-IN" i="1" smtClean="0">
                                  <a:solidFill>
                                    <a:srgbClr val="FFFFFF"/>
                                  </a:solidFill>
                                  <a:latin typeface="Cambria Math" panose="02040503050406030204" pitchFamily="18" charset="0"/>
                                </a:rPr>
                                <m:t>𝐿</m:t>
                              </m:r>
                              <m:r>
                                <a:rPr lang="en-IN" i="1" smtClean="0">
                                  <a:solidFill>
                                    <a:srgbClr val="FFFFFF"/>
                                  </a:solidFill>
                                  <a:latin typeface="Cambria Math" panose="02040503050406030204" pitchFamily="18" charset="0"/>
                                </a:rPr>
                                <m:t>0</m:t>
                              </m:r>
                            </m:sub>
                          </m:sSub>
                        </m:num>
                        <m:den>
                          <m:r>
                            <a:rPr lang="en-IN" i="1" smtClean="0">
                              <a:solidFill>
                                <a:srgbClr val="FFFFFF"/>
                              </a:solidFill>
                              <a:latin typeface="Cambria Math" panose="02040503050406030204" pitchFamily="18" charset="0"/>
                            </a:rPr>
                            <m:t>𝐵</m:t>
                          </m:r>
                          <m:sSub>
                            <m:sSubPr>
                              <m:ctrlPr>
                                <a:rPr lang="en-IN" i="1" smtClean="0">
                                  <a:solidFill>
                                    <a:srgbClr val="FFFFFF"/>
                                  </a:solidFill>
                                  <a:latin typeface="Cambria Math" panose="02040503050406030204" pitchFamily="18" charset="0"/>
                                </a:rPr>
                              </m:ctrlPr>
                            </m:sSubPr>
                            <m:e>
                              <m:r>
                                <a:rPr lang="en-IN" i="1" smtClean="0">
                                  <a:solidFill>
                                    <a:srgbClr val="FFFFFF"/>
                                  </a:solidFill>
                                  <a:latin typeface="Cambria Math" panose="02040503050406030204" pitchFamily="18" charset="0"/>
                                </a:rPr>
                                <m:t>𝑃</m:t>
                              </m:r>
                            </m:e>
                            <m:sub>
                              <m:r>
                                <a:rPr lang="en-IN" i="1" smtClean="0">
                                  <a:solidFill>
                                    <a:srgbClr val="FFFFFF"/>
                                  </a:solidFill>
                                  <a:latin typeface="Cambria Math" panose="02040503050406030204" pitchFamily="18" charset="0"/>
                                </a:rPr>
                                <m:t>𝐻𝐼</m:t>
                              </m:r>
                            </m:sub>
                          </m:sSub>
                          <m:r>
                            <a:rPr lang="en-IN" i="1" smtClean="0">
                              <a:solidFill>
                                <a:srgbClr val="FFFFFF"/>
                              </a:solidFill>
                              <a:latin typeface="Cambria Math" panose="02040503050406030204" pitchFamily="18" charset="0"/>
                            </a:rPr>
                            <m:t>−</m:t>
                          </m:r>
                          <m:r>
                            <a:rPr lang="en-IN" i="1" smtClean="0">
                              <a:solidFill>
                                <a:srgbClr val="FFFFFF"/>
                              </a:solidFill>
                              <a:latin typeface="Cambria Math" panose="02040503050406030204" pitchFamily="18" charset="0"/>
                            </a:rPr>
                            <m:t>𝐵</m:t>
                          </m:r>
                          <m:sSub>
                            <m:sSubPr>
                              <m:ctrlPr>
                                <a:rPr lang="en-IN" i="1" smtClean="0">
                                  <a:solidFill>
                                    <a:srgbClr val="FFFFFF"/>
                                  </a:solidFill>
                                  <a:latin typeface="Cambria Math" panose="02040503050406030204" pitchFamily="18" charset="0"/>
                                </a:rPr>
                              </m:ctrlPr>
                            </m:sSubPr>
                            <m:e>
                              <m:r>
                                <a:rPr lang="en-IN" i="1" smtClean="0">
                                  <a:solidFill>
                                    <a:srgbClr val="FFFFFF"/>
                                  </a:solidFill>
                                  <a:latin typeface="Cambria Math" panose="02040503050406030204" pitchFamily="18" charset="0"/>
                                </a:rPr>
                                <m:t>𝑃</m:t>
                              </m:r>
                            </m:e>
                            <m:sub>
                              <m:r>
                                <a:rPr lang="en-IN" i="1" smtClean="0">
                                  <a:solidFill>
                                    <a:srgbClr val="FFFFFF"/>
                                  </a:solidFill>
                                  <a:latin typeface="Cambria Math" panose="02040503050406030204" pitchFamily="18" charset="0"/>
                                </a:rPr>
                                <m:t>𝐿𝑂</m:t>
                              </m:r>
                            </m:sub>
                          </m:sSub>
                        </m:den>
                      </m:f>
                      <m:r>
                        <a:rPr lang="en-IN" i="1" smtClean="0">
                          <a:solidFill>
                            <a:srgbClr val="FFFFFF"/>
                          </a:solidFill>
                          <a:latin typeface="Cambria Math" panose="02040503050406030204" pitchFamily="18" charset="0"/>
                        </a:rPr>
                        <m:t>×</m:t>
                      </m:r>
                      <m:d>
                        <m:dPr>
                          <m:ctrlPr>
                            <a:rPr lang="en-IN" i="1">
                              <a:solidFill>
                                <a:srgbClr val="FFFFFF"/>
                              </a:solidFill>
                              <a:latin typeface="Cambria Math" panose="02040503050406030204" pitchFamily="18" charset="0"/>
                            </a:rPr>
                          </m:ctrlPr>
                        </m:dPr>
                        <m:e>
                          <m:r>
                            <a:rPr lang="en-IN" i="1">
                              <a:solidFill>
                                <a:srgbClr val="FFFFFF"/>
                              </a:solidFill>
                              <a:latin typeface="Cambria Math" panose="02040503050406030204" pitchFamily="18" charset="0"/>
                            </a:rPr>
                            <m:t>𝐶</m:t>
                          </m:r>
                          <m:r>
                            <a:rPr lang="en-IN" i="1">
                              <a:solidFill>
                                <a:srgbClr val="FFFFFF"/>
                              </a:solidFill>
                              <a:latin typeface="Cambria Math" panose="02040503050406030204" pitchFamily="18" charset="0"/>
                            </a:rPr>
                            <m:t>−</m:t>
                          </m:r>
                          <m:r>
                            <a:rPr lang="en-IN" i="1">
                              <a:solidFill>
                                <a:srgbClr val="FFFFFF"/>
                              </a:solidFill>
                              <a:latin typeface="Cambria Math" panose="02040503050406030204" pitchFamily="18" charset="0"/>
                            </a:rPr>
                            <m:t>𝐵</m:t>
                          </m:r>
                          <m:sSub>
                            <m:sSubPr>
                              <m:ctrlPr>
                                <a:rPr lang="en-IN" i="1">
                                  <a:solidFill>
                                    <a:srgbClr val="FFFFFF"/>
                                  </a:solidFill>
                                  <a:latin typeface="Cambria Math" panose="02040503050406030204" pitchFamily="18" charset="0"/>
                                </a:rPr>
                              </m:ctrlPr>
                            </m:sSubPr>
                            <m:e>
                              <m:r>
                                <a:rPr lang="en-IN" i="1">
                                  <a:solidFill>
                                    <a:srgbClr val="FFFFFF"/>
                                  </a:solidFill>
                                  <a:latin typeface="Cambria Math" panose="02040503050406030204" pitchFamily="18" charset="0"/>
                                </a:rPr>
                                <m:t>𝑃</m:t>
                              </m:r>
                            </m:e>
                            <m:sub>
                              <m:r>
                                <a:rPr lang="en-IN" i="1">
                                  <a:solidFill>
                                    <a:srgbClr val="FFFFFF"/>
                                  </a:solidFill>
                                  <a:latin typeface="Cambria Math" panose="02040503050406030204" pitchFamily="18" charset="0"/>
                                </a:rPr>
                                <m:t>𝐿𝑂</m:t>
                              </m:r>
                            </m:sub>
                          </m:sSub>
                        </m:e>
                      </m:d>
                      <m:r>
                        <a:rPr lang="en-IN" i="1" smtClean="0">
                          <a:solidFill>
                            <a:srgbClr val="FFFFFF"/>
                          </a:solidFill>
                          <a:latin typeface="Cambria Math" panose="02040503050406030204" pitchFamily="18" charset="0"/>
                        </a:rPr>
                        <m:t>+</m:t>
                      </m:r>
                      <m:sSub>
                        <m:sSubPr>
                          <m:ctrlPr>
                            <a:rPr lang="en-IN" i="1">
                              <a:solidFill>
                                <a:srgbClr val="FFFFFF"/>
                              </a:solidFill>
                              <a:latin typeface="Cambria Math" panose="02040503050406030204" pitchFamily="18" charset="0"/>
                            </a:rPr>
                          </m:ctrlPr>
                        </m:sSubPr>
                        <m:e>
                          <m:r>
                            <a:rPr lang="en-IN" i="1">
                              <a:solidFill>
                                <a:srgbClr val="FFFFFF"/>
                              </a:solidFill>
                              <a:latin typeface="Cambria Math" panose="02040503050406030204" pitchFamily="18" charset="0"/>
                            </a:rPr>
                            <m:t>𝐼</m:t>
                          </m:r>
                        </m:e>
                        <m:sub>
                          <m:r>
                            <a:rPr lang="en-IN" i="1">
                              <a:solidFill>
                                <a:srgbClr val="FFFFFF"/>
                              </a:solidFill>
                              <a:latin typeface="Cambria Math" panose="02040503050406030204" pitchFamily="18" charset="0"/>
                            </a:rPr>
                            <m:t>𝐿</m:t>
                          </m:r>
                          <m:r>
                            <a:rPr lang="en-IN" i="1">
                              <a:solidFill>
                                <a:srgbClr val="FFFFFF"/>
                              </a:solidFill>
                              <a:latin typeface="Cambria Math" panose="02040503050406030204" pitchFamily="18" charset="0"/>
                            </a:rPr>
                            <m:t>0</m:t>
                          </m:r>
                        </m:sub>
                      </m:sSub>
                    </m:oMath>
                  </m:oMathPara>
                </a14:m>
                <a:endParaRPr dirty="0">
                  <a:solidFill>
                    <a:srgbClr val="FFFFFF"/>
                  </a:solidFill>
                  <a:latin typeface="Consolas"/>
                </a:endParaRPr>
              </a:p>
            </p:txBody>
          </p:sp>
        </mc:Choice>
        <mc:Fallback xmlns="">
          <p:sp>
            <p:nvSpPr>
              <p:cNvPr id="6" name="Rounded Rectangle 5"/>
              <p:cNvSpPr>
                <a:spLocks noRot="1" noChangeAspect="1" noMove="1" noResize="1" noEditPoints="1" noAdjustHandles="1" noChangeArrowheads="1" noChangeShapeType="1" noTextEdit="1"/>
              </p:cNvSpPr>
              <p:nvPr/>
            </p:nvSpPr>
            <p:spPr>
              <a:xfrm>
                <a:off x="3747253" y="2413259"/>
                <a:ext cx="4355372" cy="1015741"/>
              </a:xfrm>
              <a:prstGeom prst="roundRect">
                <a:avLst>
                  <a:gd name="adj" fmla="val 6000"/>
                </a:avLst>
              </a:prstGeom>
              <a:blipFill>
                <a:blip r:embed="rId2"/>
                <a:stretch>
                  <a:fillRect/>
                </a:stretch>
              </a:blipFill>
              <a:ln>
                <a:noFill/>
              </a:ln>
              <a:effectLst/>
            </p:spPr>
            <p:txBody>
              <a:bodyPr/>
              <a:lstStyle/>
              <a:p>
                <a:r>
                  <a:rPr lang="en-IN">
                    <a:noFill/>
                  </a:rPr>
                  <a:t> </a:t>
                </a:r>
              </a:p>
            </p:txBody>
          </p:sp>
        </mc:Fallback>
      </mc:AlternateContent>
      <p:sp>
        <p:nvSpPr>
          <p:cNvPr id="7" name="Rounded Rectangle 6"/>
          <p:cNvSpPr/>
          <p:nvPr/>
        </p:nvSpPr>
        <p:spPr>
          <a:xfrm>
            <a:off x="548640" y="3657600"/>
            <a:ext cx="11064240" cy="82296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749040"/>
            <a:ext cx="10607040" cy="307777"/>
          </a:xfrm>
          <a:prstGeom prst="rect">
            <a:avLst/>
          </a:prstGeom>
          <a:noFill/>
        </p:spPr>
        <p:txBody>
          <a:bodyPr wrap="square">
            <a:spAutoFit/>
          </a:bodyPr>
          <a:lstStyle/>
          <a:p>
            <a:pPr algn="l"/>
            <a:r>
              <a:rPr lang="en-IN" sz="1400" b="1" dirty="0">
                <a:solidFill>
                  <a:srgbClr val="1E2761"/>
                </a:solidFill>
                <a:latin typeface="Consolas"/>
              </a:rPr>
              <a:t>𝐶</a:t>
            </a:r>
            <a:r>
              <a:rPr sz="1400" b="1" dirty="0">
                <a:solidFill>
                  <a:srgbClr val="1E2761"/>
                </a:solidFill>
                <a:latin typeface="Consolas"/>
              </a:rPr>
              <a:t> (Concentration)   </a:t>
            </a:r>
            <a:r>
              <a:rPr sz="1300" dirty="0">
                <a:solidFill>
                  <a:srgbClr val="1F2340"/>
                </a:solidFill>
                <a:latin typeface="Calibri"/>
              </a:rPr>
              <a:t>Represents the actual hourly concentration of the pollutant extracted directly from the dataset.</a:t>
            </a:r>
          </a:p>
        </p:txBody>
      </p:sp>
      <p:sp>
        <p:nvSpPr>
          <p:cNvPr id="9" name="Rounded Rectangle 8"/>
          <p:cNvSpPr/>
          <p:nvPr/>
        </p:nvSpPr>
        <p:spPr>
          <a:xfrm>
            <a:off x="548640" y="4617720"/>
            <a:ext cx="11064240" cy="82296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777240" y="4709160"/>
                <a:ext cx="10607040" cy="307777"/>
              </a:xfrm>
              <a:prstGeom prst="rect">
                <a:avLst/>
              </a:prstGeom>
              <a:noFill/>
            </p:spPr>
            <p:txBody>
              <a:bodyPr wrap="square">
                <a:spAutoFit/>
              </a:bodyPr>
              <a:lstStyle/>
              <a:p>
                <a14:m>
                  <m:oMath xmlns:m="http://schemas.openxmlformats.org/officeDocument/2006/math">
                    <m:sSub>
                      <m:sSubPr>
                        <m:ctrlPr>
                          <a:rPr lang="ar-AE" sz="1400" b="1" i="1" smtClean="0">
                            <a:solidFill>
                              <a:schemeClr val="tx1"/>
                            </a:solidFill>
                            <a:latin typeface="Cambria Math" panose="02040503050406030204" pitchFamily="18" charset="0"/>
                          </a:rPr>
                        </m:ctrlPr>
                      </m:sSubPr>
                      <m:e>
                        <m:r>
                          <a:rPr lang="ar-AE" sz="1400" b="1" i="1" smtClean="0">
                            <a:solidFill>
                              <a:schemeClr val="tx1"/>
                            </a:solidFill>
                            <a:latin typeface="Cambria Math" panose="02040503050406030204" pitchFamily="18" charset="0"/>
                          </a:rPr>
                          <m:t>𝑩</m:t>
                        </m:r>
                        <m:r>
                          <a:rPr lang="ar-AE" sz="1400" b="1" i="1">
                            <a:solidFill>
                              <a:schemeClr val="tx1"/>
                            </a:solidFill>
                            <a:latin typeface="Cambria Math" panose="02040503050406030204" pitchFamily="18" charset="0"/>
                          </a:rPr>
                          <m:t>𝑷</m:t>
                        </m:r>
                      </m:e>
                      <m:sub>
                        <m:r>
                          <a:rPr lang="ar-AE" sz="1400" b="1" i="1">
                            <a:solidFill>
                              <a:schemeClr val="tx1"/>
                            </a:solidFill>
                            <a:latin typeface="Cambria Math" panose="02040503050406030204" pitchFamily="18" charset="0"/>
                          </a:rPr>
                          <m:t>𝑯𝑰</m:t>
                        </m:r>
                      </m:sub>
                    </m:sSub>
                  </m:oMath>
                </a14:m>
                <a:r>
                  <a:rPr lang="ar-AE" sz="1400" b="1" dirty="0">
                    <a:solidFill>
                      <a:srgbClr val="1E2761"/>
                    </a:solidFill>
                    <a:latin typeface="Consolas"/>
                  </a:rPr>
                  <a:t> &amp; </a:t>
                </a:r>
                <a:r>
                  <a:rPr lang="en-IN" sz="1400" b="1" dirty="0">
                    <a:solidFill>
                      <a:srgbClr val="1E2761"/>
                    </a:solidFill>
                    <a:latin typeface="Consolas"/>
                  </a:rPr>
                  <a:t> </a:t>
                </a:r>
                <a14:m>
                  <m:oMath xmlns:m="http://schemas.openxmlformats.org/officeDocument/2006/math">
                    <m:sSub>
                      <m:sSubPr>
                        <m:ctrlPr>
                          <a:rPr lang="ar-AE" sz="1400" b="1" i="1">
                            <a:latin typeface="Cambria Math" panose="02040503050406030204" pitchFamily="18" charset="0"/>
                          </a:rPr>
                        </m:ctrlPr>
                      </m:sSubPr>
                      <m:e>
                        <m:r>
                          <a:rPr lang="ar-AE" sz="1400" b="1" i="1">
                            <a:latin typeface="Cambria Math" panose="02040503050406030204" pitchFamily="18" charset="0"/>
                          </a:rPr>
                          <m:t>𝑩𝑷</m:t>
                        </m:r>
                      </m:e>
                      <m:sub>
                        <m:r>
                          <a:rPr lang="en-IN" sz="1400" b="1" i="1" smtClean="0">
                            <a:latin typeface="Cambria Math" panose="02040503050406030204" pitchFamily="18" charset="0"/>
                          </a:rPr>
                          <m:t>𝑳𝑶</m:t>
                        </m:r>
                      </m:sub>
                    </m:sSub>
                  </m:oMath>
                </a14:m>
                <a:r>
                  <a:rPr lang="en-IN" sz="1400" b="1" dirty="0">
                    <a:solidFill>
                      <a:srgbClr val="1E2761"/>
                    </a:solidFill>
                    <a:latin typeface="Consolas"/>
                  </a:rPr>
                  <a:t>   </a:t>
                </a:r>
                <a:r>
                  <a:rPr lang="en-IN" sz="1300" dirty="0">
                    <a:solidFill>
                      <a:srgbClr val="1F2340"/>
                    </a:solidFill>
                    <a:latin typeface="Calibri"/>
                  </a:rPr>
                  <a:t>Define the upper and lower concentration breakpoints for a specific AQI category.</a:t>
                </a:r>
                <a:endParaRPr sz="1300" dirty="0">
                  <a:solidFill>
                    <a:srgbClr val="1F2340"/>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77240" y="4709160"/>
                <a:ext cx="10607040" cy="307777"/>
              </a:xfrm>
              <a:prstGeom prst="rect">
                <a:avLst/>
              </a:prstGeom>
              <a:blipFill>
                <a:blip r:embed="rId3"/>
                <a:stretch>
                  <a:fillRect t="-4000" b="-20000"/>
                </a:stretch>
              </a:blipFill>
            </p:spPr>
            <p:txBody>
              <a:bodyPr/>
              <a:lstStyle/>
              <a:p>
                <a:r>
                  <a:rPr lang="en-IN">
                    <a:noFill/>
                  </a:rPr>
                  <a:t> </a:t>
                </a:r>
              </a:p>
            </p:txBody>
          </p:sp>
        </mc:Fallback>
      </mc:AlternateContent>
      <p:sp>
        <p:nvSpPr>
          <p:cNvPr id="11" name="Rounded Rectangle 10"/>
          <p:cNvSpPr/>
          <p:nvPr/>
        </p:nvSpPr>
        <p:spPr>
          <a:xfrm>
            <a:off x="548640" y="5577840"/>
            <a:ext cx="11064240" cy="82296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77240" y="5669280"/>
                <a:ext cx="10607040" cy="307777"/>
              </a:xfrm>
              <a:prstGeom prst="rect">
                <a:avLst/>
              </a:prstGeom>
              <a:noFill/>
            </p:spPr>
            <p:txBody>
              <a:bodyPr wrap="square">
                <a:spAutoFit/>
              </a:bodyPr>
              <a:lstStyle/>
              <a:p>
                <a14:m>
                  <m:oMath xmlns:m="http://schemas.openxmlformats.org/officeDocument/2006/math">
                    <m:sSub>
                      <m:sSubPr>
                        <m:ctrlPr>
                          <a:rPr lang="ar-AE" sz="1400" b="1" i="1" smtClean="0">
                            <a:latin typeface="Cambria Math" panose="02040503050406030204" pitchFamily="18" charset="0"/>
                          </a:rPr>
                        </m:ctrlPr>
                      </m:sSubPr>
                      <m:e>
                        <m:r>
                          <a:rPr lang="ar-AE" sz="1400" b="1" i="1" smtClean="0">
                            <a:latin typeface="Cambria Math" panose="02040503050406030204" pitchFamily="18" charset="0"/>
                          </a:rPr>
                          <m:t>𝑰</m:t>
                        </m:r>
                      </m:e>
                      <m:sub>
                        <m:r>
                          <a:rPr lang="ar-AE" sz="1400" b="1" i="1">
                            <a:latin typeface="Cambria Math" panose="02040503050406030204" pitchFamily="18" charset="0"/>
                          </a:rPr>
                          <m:t>𝑯𝑰</m:t>
                        </m:r>
                      </m:sub>
                    </m:sSub>
                  </m:oMath>
                </a14:m>
                <a:r>
                  <a:rPr lang="ar-AE" sz="1400" b="1" dirty="0">
                    <a:solidFill>
                      <a:srgbClr val="1E2761"/>
                    </a:solidFill>
                    <a:latin typeface="Consolas"/>
                  </a:rPr>
                  <a:t> &amp; </a:t>
                </a:r>
                <a:r>
                  <a:rPr lang="en-IN" sz="1400" b="1" dirty="0">
                    <a:solidFill>
                      <a:srgbClr val="1E2761"/>
                    </a:solidFill>
                    <a:latin typeface="Consolas"/>
                  </a:rPr>
                  <a:t> </a:t>
                </a:r>
                <a14:m>
                  <m:oMath xmlns:m="http://schemas.openxmlformats.org/officeDocument/2006/math">
                    <m:sSub>
                      <m:sSubPr>
                        <m:ctrlPr>
                          <a:rPr lang="en-IN" sz="1400" b="1" i="1" smtClean="0">
                            <a:latin typeface="Cambria Math" panose="02040503050406030204" pitchFamily="18" charset="0"/>
                          </a:rPr>
                        </m:ctrlPr>
                      </m:sSubPr>
                      <m:e>
                        <m:r>
                          <a:rPr lang="en-IN" sz="1400" b="1" i="1" smtClean="0">
                            <a:latin typeface="Cambria Math" panose="02040503050406030204" pitchFamily="18" charset="0"/>
                          </a:rPr>
                          <m:t>𝑰</m:t>
                        </m:r>
                      </m:e>
                      <m:sub>
                        <m:r>
                          <a:rPr lang="en-IN" sz="1400" b="1" i="1" smtClean="0">
                            <a:latin typeface="Cambria Math" panose="02040503050406030204" pitchFamily="18" charset="0"/>
                          </a:rPr>
                          <m:t>𝑳𝑶</m:t>
                        </m:r>
                      </m:sub>
                    </m:sSub>
                  </m:oMath>
                </a14:m>
                <a:r>
                  <a:rPr lang="en-IN" sz="1400" b="1" dirty="0">
                    <a:solidFill>
                      <a:srgbClr val="1E2761"/>
                    </a:solidFill>
                    <a:latin typeface="Consolas"/>
                  </a:rPr>
                  <a:t>   </a:t>
                </a:r>
                <a:r>
                  <a:rPr lang="en-IN" sz="1300" dirty="0">
                    <a:solidFill>
                      <a:srgbClr val="1F2340"/>
                    </a:solidFill>
                    <a:latin typeface="Calibri"/>
                  </a:rPr>
                  <a:t>Represent the AQI score boundaries that perfectly correspond to those exact concentration breakpoints.</a:t>
                </a:r>
                <a:endParaRPr sz="1300" dirty="0">
                  <a:solidFill>
                    <a:srgbClr val="1F2340"/>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77240" y="5669280"/>
                <a:ext cx="10607040" cy="307777"/>
              </a:xfrm>
              <a:prstGeom prst="rect">
                <a:avLst/>
              </a:prstGeom>
              <a:blipFill>
                <a:blip r:embed="rId4"/>
                <a:stretch>
                  <a:fillRect t="-4000" b="-20000"/>
                </a:stretch>
              </a:blipFill>
            </p:spPr>
            <p:txBody>
              <a:bodyPr/>
              <a:lstStyle/>
              <a:p>
                <a:r>
                  <a:rPr lang="en-IN">
                    <a:noFill/>
                  </a:rPr>
                  <a:t> </a:t>
                </a:r>
              </a:p>
            </p:txBody>
          </p:sp>
        </mc:Fallback>
      </mc:AlternateContent>
      <p:sp>
        <p:nvSpPr>
          <p:cNvPr id="13" name="TextBox 12"/>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4" name="TextBox 13"/>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5</a:t>
            </a:r>
          </a:p>
        </p:txBody>
      </p:sp>
      <p:cxnSp>
        <p:nvCxnSpPr>
          <p:cNvPr id="15" name="Connector 8">
            <a:extLst>
              <a:ext uri="{FF2B5EF4-FFF2-40B4-BE49-F238E27FC236}">
                <a16:creationId xmlns:a16="http://schemas.microsoft.com/office/drawing/2014/main" id="{814DB3A3-4B1B-0EF9-4FCF-827030F01C97}"/>
              </a:ext>
            </a:extLst>
          </p:cNvPr>
          <p:cNvCxnSpPr>
            <a:cxnSpLocks/>
          </p:cNvCxnSpPr>
          <p:nvPr/>
        </p:nvCxnSpPr>
        <p:spPr>
          <a:xfrm>
            <a:off x="664339" y="1261498"/>
            <a:ext cx="6520232"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FEATURE ENGINEERING</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700" b="1">
                <a:solidFill>
                  <a:srgbClr val="1E2761"/>
                </a:solidFill>
                <a:latin typeface="Cambria"/>
              </a:rPr>
              <a:t>Feature Engineering: AQI Breakpoint Mapping</a:t>
            </a:r>
          </a:p>
        </p:txBody>
      </p:sp>
      <p:sp>
        <p:nvSpPr>
          <p:cNvPr id="5" name="TextBox 4"/>
          <p:cNvSpPr txBox="1"/>
          <p:nvPr/>
        </p:nvSpPr>
        <p:spPr>
          <a:xfrm>
            <a:off x="548640" y="1600200"/>
            <a:ext cx="11064240" cy="1828642"/>
          </a:xfrm>
          <a:prstGeom prst="rect">
            <a:avLst/>
          </a:prstGeom>
          <a:noFill/>
        </p:spPr>
        <p:txBody>
          <a:bodyPr wrap="square">
            <a:spAutoFit/>
          </a:bodyPr>
          <a:lstStyle/>
          <a:p>
            <a:pPr marL="256032" indent="-256032" algn="just">
              <a:lnSpc>
                <a:spcPct val="150000"/>
              </a:lnSpc>
              <a:spcAft>
                <a:spcPts val="1200"/>
              </a:spcAft>
              <a:buFont typeface="Arial"/>
              <a:buChar char="•"/>
            </a:pPr>
            <a:r>
              <a:rPr sz="1400" dirty="0">
                <a:solidFill>
                  <a:srgbClr val="1F2340"/>
                </a:solidFill>
                <a:latin typeface="Calibri"/>
              </a:rPr>
              <a:t>Since the final index thresholds are not native to the dataset, a function dynamically maps the raw pollutant concentration to its corresponding EPA sub-index.</a:t>
            </a:r>
          </a:p>
          <a:p>
            <a:pPr marL="256032" indent="-256032" algn="just">
              <a:lnSpc>
                <a:spcPct val="150000"/>
              </a:lnSpc>
              <a:spcAft>
                <a:spcPts val="1200"/>
              </a:spcAft>
              <a:buFont typeface="Arial"/>
              <a:buChar char="•"/>
            </a:pPr>
            <a:r>
              <a:rPr sz="1400" dirty="0">
                <a:solidFill>
                  <a:srgbClr val="1F2340"/>
                </a:solidFill>
                <a:latin typeface="Calibri"/>
              </a:rPr>
              <a:t>Calculation Example: an hourly CO concentration reading of 6.5 mg/m³ falls into the “Moderate” category breakpoints, and applying the formula yields a specific sub-index. This process is repeated for NO2, and the final AQI target variable is determined by extracting the maximum of the computed sub-indices.</a:t>
            </a:r>
          </a:p>
        </p:txBody>
      </p:sp>
      <p:graphicFrame>
        <p:nvGraphicFramePr>
          <p:cNvPr id="6" name="Table 5"/>
          <p:cNvGraphicFramePr>
            <a:graphicFrameLocks noGrp="1"/>
          </p:cNvGraphicFramePr>
          <p:nvPr>
            <p:extLst>
              <p:ext uri="{D42A27DB-BD31-4B8C-83A1-F6EECF244321}">
                <p14:modId xmlns:p14="http://schemas.microsoft.com/office/powerpoint/2010/main" val="1238130082"/>
              </p:ext>
            </p:extLst>
          </p:nvPr>
        </p:nvGraphicFramePr>
        <p:xfrm>
          <a:off x="1965960" y="3513582"/>
          <a:ext cx="8229600" cy="26517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41960">
                <a:tc>
                  <a:txBody>
                    <a:bodyPr/>
                    <a:lstStyle/>
                    <a:p>
                      <a:pPr algn="ctr"/>
                      <a:r>
                        <a:rPr sz="1300" b="1">
                          <a:solidFill>
                            <a:srgbClr val="FFFFFF"/>
                          </a:solidFill>
                          <a:latin typeface="Calibri"/>
                        </a:rPr>
                        <a:t>AQI Level</a:t>
                      </a:r>
                    </a:p>
                  </a:txBody>
                  <a:tcPr marL="109728" marR="109728" anchor="ctr">
                    <a:solidFill>
                      <a:srgbClr val="1E2761"/>
                    </a:solidFill>
                  </a:tcPr>
                </a:tc>
                <a:tc>
                  <a:txBody>
                    <a:bodyPr/>
                    <a:lstStyle/>
                    <a:p>
                      <a:pPr algn="ctr"/>
                      <a:r>
                        <a:rPr sz="1300" b="1">
                          <a:solidFill>
                            <a:srgbClr val="FFFFFF"/>
                          </a:solidFill>
                          <a:latin typeface="Calibri"/>
                        </a:rPr>
                        <a:t>AQI Range</a:t>
                      </a:r>
                    </a:p>
                  </a:txBody>
                  <a:tcPr marL="109728" marR="109728" anchor="ctr">
                    <a:solidFill>
                      <a:srgbClr val="1E2761"/>
                    </a:solidFill>
                  </a:tcPr>
                </a:tc>
                <a:extLst>
                  <a:ext uri="{0D108BD9-81ED-4DB2-BD59-A6C34878D82A}">
                    <a16:rowId xmlns:a16="http://schemas.microsoft.com/office/drawing/2014/main" val="10000"/>
                  </a:ext>
                </a:extLst>
              </a:tr>
              <a:tr h="441960">
                <a:tc>
                  <a:txBody>
                    <a:bodyPr/>
                    <a:lstStyle/>
                    <a:p>
                      <a:pPr algn="ctr"/>
                      <a:r>
                        <a:rPr sz="1300">
                          <a:solidFill>
                            <a:srgbClr val="1F2340"/>
                          </a:solidFill>
                          <a:latin typeface="Calibri"/>
                        </a:rPr>
                        <a:t>Good</a:t>
                      </a:r>
                    </a:p>
                  </a:txBody>
                  <a:tcPr marL="109728" marR="109728" anchor="ctr">
                    <a:solidFill>
                      <a:srgbClr val="FFFFFF"/>
                    </a:solidFill>
                  </a:tcPr>
                </a:tc>
                <a:tc>
                  <a:txBody>
                    <a:bodyPr/>
                    <a:lstStyle/>
                    <a:p>
                      <a:pPr algn="ctr"/>
                      <a:r>
                        <a:rPr sz="1300">
                          <a:solidFill>
                            <a:srgbClr val="1F2340"/>
                          </a:solidFill>
                          <a:latin typeface="Calibri"/>
                        </a:rPr>
                        <a:t>0 – 50</a:t>
                      </a:r>
                    </a:p>
                  </a:txBody>
                  <a:tcPr marL="109728" marR="109728" anchor="ctr">
                    <a:solidFill>
                      <a:srgbClr val="FFFFFF"/>
                    </a:solidFill>
                  </a:tcPr>
                </a:tc>
                <a:extLst>
                  <a:ext uri="{0D108BD9-81ED-4DB2-BD59-A6C34878D82A}">
                    <a16:rowId xmlns:a16="http://schemas.microsoft.com/office/drawing/2014/main" val="10001"/>
                  </a:ext>
                </a:extLst>
              </a:tr>
              <a:tr h="441960">
                <a:tc>
                  <a:txBody>
                    <a:bodyPr/>
                    <a:lstStyle/>
                    <a:p>
                      <a:pPr algn="ctr"/>
                      <a:r>
                        <a:rPr sz="1300">
                          <a:solidFill>
                            <a:srgbClr val="1F2340"/>
                          </a:solidFill>
                          <a:latin typeface="Calibri"/>
                        </a:rPr>
                        <a:t>Moderate</a:t>
                      </a:r>
                    </a:p>
                  </a:txBody>
                  <a:tcPr marL="109728" marR="109728" anchor="ctr">
                    <a:solidFill>
                      <a:srgbClr val="F4F6FC"/>
                    </a:solidFill>
                  </a:tcPr>
                </a:tc>
                <a:tc>
                  <a:txBody>
                    <a:bodyPr/>
                    <a:lstStyle/>
                    <a:p>
                      <a:pPr algn="ctr"/>
                      <a:r>
                        <a:rPr sz="1300">
                          <a:solidFill>
                            <a:srgbClr val="1F2340"/>
                          </a:solidFill>
                          <a:latin typeface="Calibri"/>
                        </a:rPr>
                        <a:t>51 – 100</a:t>
                      </a:r>
                    </a:p>
                  </a:txBody>
                  <a:tcPr marL="109728" marR="109728" anchor="ctr">
                    <a:solidFill>
                      <a:srgbClr val="F4F6FC"/>
                    </a:solidFill>
                  </a:tcPr>
                </a:tc>
                <a:extLst>
                  <a:ext uri="{0D108BD9-81ED-4DB2-BD59-A6C34878D82A}">
                    <a16:rowId xmlns:a16="http://schemas.microsoft.com/office/drawing/2014/main" val="10002"/>
                  </a:ext>
                </a:extLst>
              </a:tr>
              <a:tr h="441960">
                <a:tc>
                  <a:txBody>
                    <a:bodyPr/>
                    <a:lstStyle/>
                    <a:p>
                      <a:pPr algn="ctr"/>
                      <a:r>
                        <a:rPr sz="1300">
                          <a:solidFill>
                            <a:srgbClr val="1F2340"/>
                          </a:solidFill>
                          <a:latin typeface="Calibri"/>
                        </a:rPr>
                        <a:t>Unhealthy</a:t>
                      </a:r>
                    </a:p>
                  </a:txBody>
                  <a:tcPr marL="109728" marR="109728" anchor="ctr">
                    <a:solidFill>
                      <a:srgbClr val="FFFFFF"/>
                    </a:solidFill>
                  </a:tcPr>
                </a:tc>
                <a:tc>
                  <a:txBody>
                    <a:bodyPr/>
                    <a:lstStyle/>
                    <a:p>
                      <a:pPr algn="ctr"/>
                      <a:r>
                        <a:rPr sz="1300">
                          <a:solidFill>
                            <a:srgbClr val="1F2340"/>
                          </a:solidFill>
                          <a:latin typeface="Calibri"/>
                        </a:rPr>
                        <a:t>101 – 150</a:t>
                      </a:r>
                    </a:p>
                  </a:txBody>
                  <a:tcPr marL="109728" marR="109728" anchor="ctr">
                    <a:solidFill>
                      <a:srgbClr val="FFFFFF"/>
                    </a:solidFill>
                  </a:tcPr>
                </a:tc>
                <a:extLst>
                  <a:ext uri="{0D108BD9-81ED-4DB2-BD59-A6C34878D82A}">
                    <a16:rowId xmlns:a16="http://schemas.microsoft.com/office/drawing/2014/main" val="10003"/>
                  </a:ext>
                </a:extLst>
              </a:tr>
              <a:tr h="441960">
                <a:tc>
                  <a:txBody>
                    <a:bodyPr/>
                    <a:lstStyle/>
                    <a:p>
                      <a:pPr algn="ctr"/>
                      <a:r>
                        <a:rPr sz="1300">
                          <a:solidFill>
                            <a:srgbClr val="1F2340"/>
                          </a:solidFill>
                          <a:latin typeface="Calibri"/>
                        </a:rPr>
                        <a:t>Unhealthy for Strong People</a:t>
                      </a:r>
                    </a:p>
                  </a:txBody>
                  <a:tcPr marL="109728" marR="109728" anchor="ctr">
                    <a:solidFill>
                      <a:srgbClr val="F4F6FC"/>
                    </a:solidFill>
                  </a:tcPr>
                </a:tc>
                <a:tc>
                  <a:txBody>
                    <a:bodyPr/>
                    <a:lstStyle/>
                    <a:p>
                      <a:pPr algn="ctr"/>
                      <a:r>
                        <a:rPr sz="1300">
                          <a:solidFill>
                            <a:srgbClr val="1F2340"/>
                          </a:solidFill>
                          <a:latin typeface="Calibri"/>
                        </a:rPr>
                        <a:t>151 – 200</a:t>
                      </a:r>
                    </a:p>
                  </a:txBody>
                  <a:tcPr marL="109728" marR="109728" anchor="ctr">
                    <a:solidFill>
                      <a:srgbClr val="F4F6FC"/>
                    </a:solidFill>
                  </a:tcPr>
                </a:tc>
                <a:extLst>
                  <a:ext uri="{0D108BD9-81ED-4DB2-BD59-A6C34878D82A}">
                    <a16:rowId xmlns:a16="http://schemas.microsoft.com/office/drawing/2014/main" val="10004"/>
                  </a:ext>
                </a:extLst>
              </a:tr>
              <a:tr h="441960">
                <a:tc>
                  <a:txBody>
                    <a:bodyPr/>
                    <a:lstStyle/>
                    <a:p>
                      <a:pPr algn="ctr"/>
                      <a:r>
                        <a:rPr sz="1300">
                          <a:solidFill>
                            <a:srgbClr val="1F2340"/>
                          </a:solidFill>
                          <a:latin typeface="Calibri"/>
                        </a:rPr>
                        <a:t>Hazardous</a:t>
                      </a:r>
                    </a:p>
                  </a:txBody>
                  <a:tcPr marL="109728" marR="109728" anchor="ctr">
                    <a:solidFill>
                      <a:srgbClr val="FFFFFF"/>
                    </a:solidFill>
                  </a:tcPr>
                </a:tc>
                <a:tc>
                  <a:txBody>
                    <a:bodyPr/>
                    <a:lstStyle/>
                    <a:p>
                      <a:pPr algn="ctr"/>
                      <a:r>
                        <a:rPr sz="1300" dirty="0">
                          <a:solidFill>
                            <a:srgbClr val="1F2340"/>
                          </a:solidFill>
                          <a:latin typeface="Calibri"/>
                        </a:rPr>
                        <a:t>201+</a:t>
                      </a:r>
                    </a:p>
                  </a:txBody>
                  <a:tcPr marL="109728" marR="109728"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8" name="TextBox 7"/>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6</a:t>
            </a:r>
          </a:p>
        </p:txBody>
      </p:sp>
      <p:cxnSp>
        <p:nvCxnSpPr>
          <p:cNvPr id="9" name="Connector 8">
            <a:extLst>
              <a:ext uri="{FF2B5EF4-FFF2-40B4-BE49-F238E27FC236}">
                <a16:creationId xmlns:a16="http://schemas.microsoft.com/office/drawing/2014/main" id="{C00BDAFD-B2D8-5E8D-C489-586A40094B16}"/>
              </a:ext>
            </a:extLst>
          </p:cNvPr>
          <p:cNvCxnSpPr>
            <a:cxnSpLocks/>
          </p:cNvCxnSpPr>
          <p:nvPr/>
        </p:nvCxnSpPr>
        <p:spPr>
          <a:xfrm>
            <a:off x="664339" y="1261498"/>
            <a:ext cx="7136053"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FEATURE ENGINEERING</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Description of Independent Variables (X)</a:t>
            </a:r>
          </a:p>
        </p:txBody>
      </p:sp>
      <p:sp>
        <p:nvSpPr>
          <p:cNvPr id="5" name="TextBox 4"/>
          <p:cNvSpPr txBox="1"/>
          <p:nvPr/>
        </p:nvSpPr>
        <p:spPr>
          <a:xfrm>
            <a:off x="548640" y="1605915"/>
            <a:ext cx="11064240" cy="1817101"/>
          </a:xfrm>
          <a:prstGeom prst="rect">
            <a:avLst/>
          </a:prstGeom>
          <a:noFill/>
        </p:spPr>
        <p:txBody>
          <a:bodyPr wrap="square">
            <a:spAutoFit/>
          </a:bodyPr>
          <a:lstStyle/>
          <a:p>
            <a:pPr marL="256032" indent="-256032" algn="just">
              <a:lnSpc>
                <a:spcPct val="200000"/>
              </a:lnSpc>
              <a:buFont typeface="Arial"/>
              <a:buChar char="•"/>
            </a:pPr>
            <a:r>
              <a:rPr sz="1400" dirty="0">
                <a:solidFill>
                  <a:srgbClr val="1F2340"/>
                </a:solidFill>
                <a:latin typeface="+mj-lt"/>
              </a:rPr>
              <a:t>The independent variables driving the model consist of continuous hourly readings from five distinct metal oxide chemical sensors and two standard atmospheric con</a:t>
            </a:r>
            <a:r>
              <a:rPr lang="en-IN" sz="1400" dirty="0" err="1">
                <a:solidFill>
                  <a:srgbClr val="1F2340"/>
                </a:solidFill>
                <a:latin typeface="+mj-lt"/>
              </a:rPr>
              <a:t>ditions</a:t>
            </a:r>
            <a:r>
              <a:rPr lang="en-IN" sz="1400" dirty="0">
                <a:solidFill>
                  <a:srgbClr val="1F2340"/>
                </a:solidFill>
                <a:latin typeface="+mj-lt"/>
              </a:rPr>
              <a:t>.</a:t>
            </a:r>
          </a:p>
          <a:p>
            <a:pPr marL="256032" indent="-256032" algn="just">
              <a:lnSpc>
                <a:spcPct val="200000"/>
              </a:lnSpc>
              <a:buFont typeface="Arial"/>
              <a:buChar char="•"/>
            </a:pPr>
            <a:r>
              <a:rPr lang="en-IN" sz="1400" b="1" dirty="0">
                <a:latin typeface="+mj-lt"/>
              </a:rPr>
              <a:t>Standardization Note</a:t>
            </a:r>
            <a:r>
              <a:rPr lang="en-IN" sz="1400" dirty="0">
                <a:latin typeface="+mj-lt"/>
              </a:rPr>
              <a:t>: Prior to modelling, all independent variables and the target variable were standardized (Z-score normalized) to ensure their final coefficients act as Beta weights, allowing for direct, scale-independent comparison of their impacts.</a:t>
            </a:r>
            <a:endParaRPr lang="en-IN" sz="1400" dirty="0">
              <a:solidFill>
                <a:srgbClr val="1F2340"/>
              </a:solidFill>
              <a:latin typeface="+mj-lt"/>
            </a:endParaRPr>
          </a:p>
        </p:txBody>
      </p:sp>
      <p:sp>
        <p:nvSpPr>
          <p:cNvPr id="6" name="Rounded Rectangle 5"/>
          <p:cNvSpPr/>
          <p:nvPr/>
        </p:nvSpPr>
        <p:spPr>
          <a:xfrm>
            <a:off x="548640" y="3572401"/>
            <a:ext cx="11064240" cy="557837"/>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3663841"/>
            <a:ext cx="10607040" cy="640080"/>
          </a:xfrm>
          <a:prstGeom prst="rect">
            <a:avLst/>
          </a:prstGeom>
          <a:noFill/>
        </p:spPr>
        <p:txBody>
          <a:bodyPr wrap="square">
            <a:spAutoFit/>
          </a:bodyPr>
          <a:lstStyle/>
          <a:p>
            <a:pPr algn="l"/>
            <a:r>
              <a:rPr sz="1400" b="1">
                <a:solidFill>
                  <a:srgbClr val="1E2761"/>
                </a:solidFill>
                <a:latin typeface="Calibri"/>
              </a:rPr>
              <a:t>PT08.S1 (CO) &amp; PT08.S2 (NMHC)  —  </a:t>
            </a:r>
            <a:r>
              <a:rPr sz="1300">
                <a:solidFill>
                  <a:srgbClr val="1F2340"/>
                </a:solidFill>
                <a:latin typeface="Calibri"/>
              </a:rPr>
              <a:t>Tin oxide and Titania sensors specifically targeting Carbon Monoxide and Non-Methane Hydrocarbons.</a:t>
            </a:r>
          </a:p>
        </p:txBody>
      </p:sp>
      <p:sp>
        <p:nvSpPr>
          <p:cNvPr id="8" name="Rounded Rectangle 7"/>
          <p:cNvSpPr/>
          <p:nvPr/>
        </p:nvSpPr>
        <p:spPr>
          <a:xfrm>
            <a:off x="548640" y="4255988"/>
            <a:ext cx="11064240" cy="611342"/>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4347428"/>
            <a:ext cx="10607040" cy="640080"/>
          </a:xfrm>
          <a:prstGeom prst="rect">
            <a:avLst/>
          </a:prstGeom>
          <a:noFill/>
        </p:spPr>
        <p:txBody>
          <a:bodyPr wrap="square">
            <a:spAutoFit/>
          </a:bodyPr>
          <a:lstStyle/>
          <a:p>
            <a:pPr algn="l"/>
            <a:r>
              <a:rPr sz="1400" b="1">
                <a:solidFill>
                  <a:srgbClr val="1E2761"/>
                </a:solidFill>
                <a:latin typeface="Calibri"/>
              </a:rPr>
              <a:t>PT08.S3 (NOx) &amp; PT08.S4 (NO2)  —  </a:t>
            </a:r>
            <a:r>
              <a:rPr sz="1300">
                <a:solidFill>
                  <a:srgbClr val="1F2340"/>
                </a:solidFill>
                <a:latin typeface="Calibri"/>
              </a:rPr>
              <a:t>Tungsten oxide sensors highly sensitive to Nitrogen Oxides and Nitrogen Dioxide.</a:t>
            </a:r>
          </a:p>
        </p:txBody>
      </p:sp>
      <p:sp>
        <p:nvSpPr>
          <p:cNvPr id="10" name="Rounded Rectangle 9"/>
          <p:cNvSpPr/>
          <p:nvPr/>
        </p:nvSpPr>
        <p:spPr>
          <a:xfrm>
            <a:off x="548640" y="4973885"/>
            <a:ext cx="11064240" cy="571821"/>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5065325"/>
            <a:ext cx="10607040" cy="640080"/>
          </a:xfrm>
          <a:prstGeom prst="rect">
            <a:avLst/>
          </a:prstGeom>
          <a:noFill/>
        </p:spPr>
        <p:txBody>
          <a:bodyPr wrap="square">
            <a:spAutoFit/>
          </a:bodyPr>
          <a:lstStyle/>
          <a:p>
            <a:pPr algn="l"/>
            <a:r>
              <a:rPr sz="1400" b="1">
                <a:solidFill>
                  <a:srgbClr val="1E2761"/>
                </a:solidFill>
                <a:latin typeface="Calibri"/>
              </a:rPr>
              <a:t>PT08.S5 (O3)  —  </a:t>
            </a:r>
            <a:r>
              <a:rPr sz="1300">
                <a:solidFill>
                  <a:srgbClr val="1F2340"/>
                </a:solidFill>
                <a:latin typeface="Calibri"/>
              </a:rPr>
              <a:t>An Indium oxide sensor measuring atmospheric Ozone.</a:t>
            </a:r>
          </a:p>
        </p:txBody>
      </p:sp>
      <p:sp>
        <p:nvSpPr>
          <p:cNvPr id="12" name="Rounded Rectangle 11"/>
          <p:cNvSpPr/>
          <p:nvPr/>
        </p:nvSpPr>
        <p:spPr>
          <a:xfrm>
            <a:off x="548640" y="5672375"/>
            <a:ext cx="11064240" cy="537443"/>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763815"/>
            <a:ext cx="10607040" cy="640080"/>
          </a:xfrm>
          <a:prstGeom prst="rect">
            <a:avLst/>
          </a:prstGeom>
          <a:noFill/>
        </p:spPr>
        <p:txBody>
          <a:bodyPr wrap="square">
            <a:spAutoFit/>
          </a:bodyPr>
          <a:lstStyle/>
          <a:p>
            <a:pPr algn="l"/>
            <a:r>
              <a:rPr sz="1400" b="1">
                <a:solidFill>
                  <a:srgbClr val="1E2761"/>
                </a:solidFill>
                <a:latin typeface="Calibri"/>
              </a:rPr>
              <a:t>T &amp; AH  —  </a:t>
            </a:r>
            <a:r>
              <a:rPr sz="1300">
                <a:solidFill>
                  <a:srgbClr val="1F2340"/>
                </a:solidFill>
                <a:latin typeface="Calibri"/>
              </a:rPr>
              <a:t>Ambient Temperature measured in Celsius and Absolute Humidity.</a:t>
            </a:r>
          </a:p>
        </p:txBody>
      </p:sp>
      <p:sp>
        <p:nvSpPr>
          <p:cNvPr id="14" name="TextBox 13"/>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5" name="TextBox 14"/>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7</a:t>
            </a:r>
          </a:p>
        </p:txBody>
      </p:sp>
      <p:cxnSp>
        <p:nvCxnSpPr>
          <p:cNvPr id="16" name="Connector 8">
            <a:extLst>
              <a:ext uri="{FF2B5EF4-FFF2-40B4-BE49-F238E27FC236}">
                <a16:creationId xmlns:a16="http://schemas.microsoft.com/office/drawing/2014/main" id="{152B47AB-6782-44D0-1F70-149AE94216BF}"/>
              </a:ext>
            </a:extLst>
          </p:cNvPr>
          <p:cNvCxnSpPr>
            <a:cxnSpLocks/>
          </p:cNvCxnSpPr>
          <p:nvPr/>
        </p:nvCxnSpPr>
        <p:spPr>
          <a:xfrm>
            <a:off x="664339" y="1261498"/>
            <a:ext cx="6772159"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DESCRIPTIVE ANALYTICS</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Descriptive Analytics: Linearity &amp; Collinearity</a:t>
            </a:r>
          </a:p>
        </p:txBody>
      </p:sp>
      <p:sp>
        <p:nvSpPr>
          <p:cNvPr id="5" name="TextBox 4"/>
          <p:cNvSpPr txBox="1"/>
          <p:nvPr/>
        </p:nvSpPr>
        <p:spPr>
          <a:xfrm>
            <a:off x="548640" y="1600200"/>
            <a:ext cx="11064240" cy="1237455"/>
          </a:xfrm>
          <a:prstGeom prst="rect">
            <a:avLst/>
          </a:prstGeom>
          <a:noFill/>
        </p:spPr>
        <p:txBody>
          <a:bodyPr wrap="square">
            <a:spAutoFit/>
          </a:bodyPr>
          <a:lstStyle/>
          <a:p>
            <a:pPr marL="256032" indent="-256032" algn="just">
              <a:lnSpc>
                <a:spcPct val="120000"/>
              </a:lnSpc>
              <a:spcAft>
                <a:spcPts val="1000"/>
              </a:spcAft>
              <a:buFont typeface="Arial"/>
              <a:buChar char="•"/>
            </a:pPr>
            <a:r>
              <a:rPr sz="1400" dirty="0">
                <a:solidFill>
                  <a:srgbClr val="1F2340"/>
                </a:solidFill>
                <a:latin typeface="Calibri"/>
              </a:rPr>
              <a:t>Initial scatter plots verify clear linear relationships between the individual sensors and the calculated AQI, satisfying the foundational assumption of the OLS approach.</a:t>
            </a:r>
          </a:p>
          <a:p>
            <a:pPr marL="256032" indent="-256032" algn="just">
              <a:lnSpc>
                <a:spcPct val="120000"/>
              </a:lnSpc>
              <a:spcAft>
                <a:spcPts val="1000"/>
              </a:spcAft>
              <a:buFont typeface="Arial"/>
              <a:buChar char="•"/>
            </a:pPr>
            <a:r>
              <a:rPr sz="1400" dirty="0">
                <a:solidFill>
                  <a:srgbClr val="1F2340"/>
                </a:solidFill>
                <a:latin typeface="Calibri"/>
              </a:rPr>
              <a:t>The correlation matrix highlights relationships exceeding 0.85 among several metal oxide sensors, signaling an immediate and severe risk of multicollinearity requiring correction.</a:t>
            </a:r>
          </a:p>
        </p:txBody>
      </p:sp>
      <p:sp>
        <p:nvSpPr>
          <p:cNvPr id="6" name="Rounded Rectangle 5"/>
          <p:cNvSpPr/>
          <p:nvPr/>
        </p:nvSpPr>
        <p:spPr>
          <a:xfrm>
            <a:off x="548640" y="3063240"/>
            <a:ext cx="5989320" cy="3063240"/>
          </a:xfrm>
          <a:prstGeom prst="roundRect">
            <a:avLst>
              <a:gd name="adj" fmla="val 6000"/>
            </a:avLst>
          </a:prstGeom>
          <a:solidFill>
            <a:srgbClr val="FFFFFF"/>
          </a:solidFill>
          <a:ln w="12700">
            <a:solidFill>
              <a:srgbClr val="D9DE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ct.png"/>
          <p:cNvPicPr>
            <a:picLocks noChangeAspect="1"/>
          </p:cNvPicPr>
          <p:nvPr/>
        </p:nvPicPr>
        <p:blipFill>
          <a:blip r:embed="rId2"/>
          <a:stretch>
            <a:fillRect/>
          </a:stretch>
        </p:blipFill>
        <p:spPr>
          <a:xfrm>
            <a:off x="1084973" y="3063240"/>
            <a:ext cx="4916654" cy="3063240"/>
          </a:xfrm>
          <a:prstGeom prst="rect">
            <a:avLst/>
          </a:prstGeom>
        </p:spPr>
      </p:pic>
      <p:sp>
        <p:nvSpPr>
          <p:cNvPr id="8" name="TextBox 7"/>
          <p:cNvSpPr txBox="1"/>
          <p:nvPr/>
        </p:nvSpPr>
        <p:spPr>
          <a:xfrm>
            <a:off x="548640" y="6199632"/>
            <a:ext cx="5989320" cy="274320"/>
          </a:xfrm>
          <a:prstGeom prst="rect">
            <a:avLst/>
          </a:prstGeom>
          <a:noFill/>
        </p:spPr>
        <p:txBody>
          <a:bodyPr wrap="square">
            <a:spAutoFit/>
          </a:bodyPr>
          <a:lstStyle/>
          <a:p>
            <a:pPr algn="ctr"/>
            <a:r>
              <a:rPr sz="1100" i="1">
                <a:solidFill>
                  <a:srgbClr val="5B6488"/>
                </a:solidFill>
                <a:latin typeface="Calibri"/>
              </a:rPr>
              <a:t>Scatter Plots: AQI vs. Each Sensor / Covariate</a:t>
            </a:r>
          </a:p>
        </p:txBody>
      </p:sp>
      <p:sp>
        <p:nvSpPr>
          <p:cNvPr id="9" name="Rounded Rectangle 8"/>
          <p:cNvSpPr/>
          <p:nvPr/>
        </p:nvSpPr>
        <p:spPr>
          <a:xfrm>
            <a:off x="6903720" y="3063240"/>
            <a:ext cx="4709160" cy="3063240"/>
          </a:xfrm>
          <a:prstGeom prst="roundRect">
            <a:avLst>
              <a:gd name="adj" fmla="val 6000"/>
            </a:avLst>
          </a:prstGeom>
          <a:solidFill>
            <a:srgbClr val="FFFFFF"/>
          </a:solidFill>
          <a:ln w="12700">
            <a:solidFill>
              <a:srgbClr val="D9DE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orr.png"/>
          <p:cNvPicPr>
            <a:picLocks noChangeAspect="1"/>
          </p:cNvPicPr>
          <p:nvPr/>
        </p:nvPicPr>
        <p:blipFill>
          <a:blip r:embed="rId3"/>
          <a:stretch>
            <a:fillRect/>
          </a:stretch>
        </p:blipFill>
        <p:spPr>
          <a:xfrm>
            <a:off x="7521676" y="3063240"/>
            <a:ext cx="3473248" cy="3063240"/>
          </a:xfrm>
          <a:prstGeom prst="rect">
            <a:avLst/>
          </a:prstGeom>
        </p:spPr>
      </p:pic>
      <p:sp>
        <p:nvSpPr>
          <p:cNvPr id="11" name="TextBox 10"/>
          <p:cNvSpPr txBox="1"/>
          <p:nvPr/>
        </p:nvSpPr>
        <p:spPr>
          <a:xfrm>
            <a:off x="6903720" y="6199632"/>
            <a:ext cx="4709160" cy="274320"/>
          </a:xfrm>
          <a:prstGeom prst="rect">
            <a:avLst/>
          </a:prstGeom>
          <a:noFill/>
        </p:spPr>
        <p:txBody>
          <a:bodyPr wrap="square">
            <a:spAutoFit/>
          </a:bodyPr>
          <a:lstStyle/>
          <a:p>
            <a:pPr algn="ctr"/>
            <a:r>
              <a:rPr sz="1100" i="1">
                <a:solidFill>
                  <a:srgbClr val="5B6488"/>
                </a:solidFill>
                <a:latin typeface="Calibri"/>
              </a:rPr>
              <a:t>Correlation Matrix: Sensor Variables &amp; AQI</a:t>
            </a:r>
          </a:p>
        </p:txBody>
      </p:sp>
      <p:sp>
        <p:nvSpPr>
          <p:cNvPr id="12" name="TextBox 11"/>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3" name="TextBox 12"/>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8</a:t>
            </a:r>
          </a:p>
        </p:txBody>
      </p:sp>
      <p:cxnSp>
        <p:nvCxnSpPr>
          <p:cNvPr id="14" name="Connector 8">
            <a:extLst>
              <a:ext uri="{FF2B5EF4-FFF2-40B4-BE49-F238E27FC236}">
                <a16:creationId xmlns:a16="http://schemas.microsoft.com/office/drawing/2014/main" id="{F9506C52-6F0E-5F42-658F-3263DD7C4C3C}"/>
              </a:ext>
            </a:extLst>
          </p:cNvPr>
          <p:cNvCxnSpPr>
            <a:cxnSpLocks/>
          </p:cNvCxnSpPr>
          <p:nvPr/>
        </p:nvCxnSpPr>
        <p:spPr>
          <a:xfrm>
            <a:off x="664339" y="1261498"/>
            <a:ext cx="7565261"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DESCRIPTIVE ANALYTICS</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Descriptive Analytics: Temporal Commute Peaks</a:t>
            </a:r>
          </a:p>
        </p:txBody>
      </p:sp>
      <p:sp>
        <p:nvSpPr>
          <p:cNvPr id="5" name="TextBox 4"/>
          <p:cNvSpPr txBox="1"/>
          <p:nvPr/>
        </p:nvSpPr>
        <p:spPr>
          <a:xfrm>
            <a:off x="548640" y="1554480"/>
            <a:ext cx="11064240" cy="1064137"/>
          </a:xfrm>
          <a:prstGeom prst="rect">
            <a:avLst/>
          </a:prstGeom>
          <a:noFill/>
        </p:spPr>
        <p:txBody>
          <a:bodyPr wrap="square">
            <a:spAutoFit/>
          </a:bodyPr>
          <a:lstStyle/>
          <a:p>
            <a:pPr marL="256032" indent="-256032" algn="just">
              <a:lnSpc>
                <a:spcPct val="150000"/>
              </a:lnSpc>
              <a:spcAft>
                <a:spcPts val="800"/>
              </a:spcAft>
              <a:buFont typeface="Arial"/>
              <a:buChar char="•"/>
            </a:pPr>
            <a:r>
              <a:rPr sz="1300" dirty="0">
                <a:solidFill>
                  <a:srgbClr val="1F2340"/>
                </a:solidFill>
                <a:latin typeface="Calibri"/>
              </a:rPr>
              <a:t>Visualizing this through boxplots and a smoothed curve demonstrates clear, recurring pollution spikes occurring sharply at 08:00 and between 18:00 and 19:00.</a:t>
            </a:r>
          </a:p>
          <a:p>
            <a:pPr marL="256032" indent="-256032" algn="just">
              <a:lnSpc>
                <a:spcPct val="150000"/>
              </a:lnSpc>
              <a:spcAft>
                <a:spcPts val="800"/>
              </a:spcAft>
              <a:buFont typeface="Arial"/>
              <a:buChar char="•"/>
            </a:pPr>
            <a:r>
              <a:rPr sz="1300" dirty="0">
                <a:solidFill>
                  <a:srgbClr val="1F2340"/>
                </a:solidFill>
                <a:latin typeface="Calibri"/>
              </a:rPr>
              <a:t>These spikes align perfectly with heavy automotive traffic during standard office commute hours, providing a strong behavioral explanation for the variance.</a:t>
            </a:r>
          </a:p>
        </p:txBody>
      </p:sp>
      <p:sp>
        <p:nvSpPr>
          <p:cNvPr id="6" name="Rounded Rectangle 5"/>
          <p:cNvSpPr/>
          <p:nvPr/>
        </p:nvSpPr>
        <p:spPr>
          <a:xfrm>
            <a:off x="1985553" y="2871021"/>
            <a:ext cx="7691765" cy="3327296"/>
          </a:xfrm>
          <a:prstGeom prst="roundRect">
            <a:avLst>
              <a:gd name="adj" fmla="val 6000"/>
            </a:avLst>
          </a:prstGeom>
          <a:solidFill>
            <a:srgbClr val="FFFFFF"/>
          </a:solidFill>
          <a:ln w="12700">
            <a:solidFill>
              <a:srgbClr val="D9DE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day.png"/>
          <p:cNvPicPr>
            <a:picLocks noChangeAspect="1"/>
          </p:cNvPicPr>
          <p:nvPr/>
        </p:nvPicPr>
        <p:blipFill>
          <a:blip r:embed="rId2"/>
          <a:stretch>
            <a:fillRect/>
          </a:stretch>
        </p:blipFill>
        <p:spPr>
          <a:xfrm>
            <a:off x="1985553" y="3187701"/>
            <a:ext cx="7839581" cy="2740504"/>
          </a:xfrm>
          <a:prstGeom prst="rect">
            <a:avLst/>
          </a:prstGeom>
        </p:spPr>
      </p:pic>
      <p:sp>
        <p:nvSpPr>
          <p:cNvPr id="8" name="TextBox 7"/>
          <p:cNvSpPr txBox="1"/>
          <p:nvPr/>
        </p:nvSpPr>
        <p:spPr>
          <a:xfrm>
            <a:off x="1985553" y="6248918"/>
            <a:ext cx="7691765" cy="261610"/>
          </a:xfrm>
          <a:prstGeom prst="rect">
            <a:avLst/>
          </a:prstGeom>
          <a:noFill/>
        </p:spPr>
        <p:txBody>
          <a:bodyPr wrap="square">
            <a:spAutoFit/>
          </a:bodyPr>
          <a:lstStyle/>
          <a:p>
            <a:pPr algn="ctr"/>
            <a:r>
              <a:rPr sz="1100" i="1">
                <a:solidFill>
                  <a:srgbClr val="5B6488"/>
                </a:solidFill>
                <a:latin typeface="Calibri"/>
              </a:rPr>
              <a:t>AQI Distribution by Hour of Day</a:t>
            </a:r>
          </a:p>
        </p:txBody>
      </p:sp>
      <p:sp>
        <p:nvSpPr>
          <p:cNvPr id="12" name="TextBox 11"/>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3" name="TextBox 12"/>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9</a:t>
            </a:r>
          </a:p>
        </p:txBody>
      </p:sp>
      <p:cxnSp>
        <p:nvCxnSpPr>
          <p:cNvPr id="14" name="Connector 8">
            <a:extLst>
              <a:ext uri="{FF2B5EF4-FFF2-40B4-BE49-F238E27FC236}">
                <a16:creationId xmlns:a16="http://schemas.microsoft.com/office/drawing/2014/main" id="{1248F3A7-A596-35A9-985F-4802E80BF4EC}"/>
              </a:ext>
            </a:extLst>
          </p:cNvPr>
          <p:cNvCxnSpPr>
            <a:cxnSpLocks/>
          </p:cNvCxnSpPr>
          <p:nvPr/>
        </p:nvCxnSpPr>
        <p:spPr>
          <a:xfrm>
            <a:off x="664339" y="1261498"/>
            <a:ext cx="8003800"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BASELINE MODEL</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700" b="1">
                <a:solidFill>
                  <a:srgbClr val="1E2761"/>
                </a:solidFill>
                <a:latin typeface="Cambria"/>
              </a:rPr>
              <a:t>Baseline OLS Model &amp; Diagnostics</a:t>
            </a:r>
          </a:p>
        </p:txBody>
      </p:sp>
      <p:sp>
        <p:nvSpPr>
          <p:cNvPr id="5" name="Rounded Rectangle 4"/>
          <p:cNvSpPr/>
          <p:nvPr/>
        </p:nvSpPr>
        <p:spPr>
          <a:xfrm>
            <a:off x="548640" y="1508760"/>
            <a:ext cx="3200400" cy="77724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08760"/>
            <a:ext cx="3200400" cy="777240"/>
          </a:xfrm>
          <a:prstGeom prst="rect">
            <a:avLst/>
          </a:prstGeom>
          <a:noFill/>
        </p:spPr>
        <p:txBody>
          <a:bodyPr wrap="none" anchor="ctr">
            <a:spAutoFit/>
          </a:bodyPr>
          <a:lstStyle/>
          <a:p>
            <a:pPr algn="ctr"/>
            <a:r>
              <a:rPr sz="1800" b="1" dirty="0">
                <a:solidFill>
                  <a:srgbClr val="1E2761"/>
                </a:solidFill>
                <a:latin typeface="Cambria"/>
              </a:rPr>
              <a:t>R² = 0.849</a:t>
            </a:r>
            <a:r>
              <a:rPr sz="1200" dirty="0">
                <a:solidFill>
                  <a:srgbClr val="5B6488"/>
                </a:solidFill>
                <a:latin typeface="Calibri"/>
              </a:rPr>
              <a:t>  /  Adj. 0.847</a:t>
            </a:r>
          </a:p>
        </p:txBody>
      </p:sp>
      <p:sp>
        <p:nvSpPr>
          <p:cNvPr id="7" name="TextBox 6"/>
          <p:cNvSpPr txBox="1"/>
          <p:nvPr/>
        </p:nvSpPr>
        <p:spPr>
          <a:xfrm>
            <a:off x="3931920" y="1371600"/>
            <a:ext cx="7680960" cy="971676"/>
          </a:xfrm>
          <a:prstGeom prst="rect">
            <a:avLst/>
          </a:prstGeom>
          <a:noFill/>
        </p:spPr>
        <p:txBody>
          <a:bodyPr wrap="square">
            <a:spAutoFit/>
          </a:bodyPr>
          <a:lstStyle/>
          <a:p>
            <a:pPr marL="256032" indent="-256032" algn="just">
              <a:lnSpc>
                <a:spcPct val="150000"/>
              </a:lnSpc>
              <a:spcAft>
                <a:spcPts val="600"/>
              </a:spcAft>
              <a:buFont typeface="Arial"/>
              <a:buChar char="•"/>
            </a:pPr>
            <a:r>
              <a:rPr sz="1200" dirty="0">
                <a:solidFill>
                  <a:srgbClr val="1F2340"/>
                </a:solidFill>
                <a:latin typeface="Calibri"/>
              </a:rPr>
              <a:t>The baseline model achieved an R-squared of 0.849 and Adjusted R-squared of 0.847.</a:t>
            </a:r>
          </a:p>
          <a:p>
            <a:pPr marL="256032" indent="-256032" algn="just">
              <a:lnSpc>
                <a:spcPct val="150000"/>
              </a:lnSpc>
              <a:spcAft>
                <a:spcPts val="600"/>
              </a:spcAft>
              <a:buFont typeface="Arial"/>
              <a:buChar char="•"/>
            </a:pPr>
            <a:r>
              <a:rPr lang="en-US" sz="1200" dirty="0">
                <a:solidFill>
                  <a:srgbClr val="1F2340"/>
                </a:solidFill>
                <a:latin typeface="Calibri"/>
              </a:rPr>
              <a:t>Scatter plots of the independent variables against the Calculated AQI shows that the variance of the errors changes significantly across observations (heteroskedasticity).</a:t>
            </a:r>
            <a:endParaRPr sz="1200" dirty="0">
              <a:solidFill>
                <a:srgbClr val="1F2340"/>
              </a:solidFill>
              <a:latin typeface="Calibri"/>
            </a:endParaRPr>
          </a:p>
        </p:txBody>
      </p:sp>
      <p:graphicFrame>
        <p:nvGraphicFramePr>
          <p:cNvPr id="8" name="Table 7"/>
          <p:cNvGraphicFramePr>
            <a:graphicFrameLocks noGrp="1"/>
          </p:cNvGraphicFramePr>
          <p:nvPr>
            <p:extLst>
              <p:ext uri="{D42A27DB-BD31-4B8C-83A1-F6EECF244321}">
                <p14:modId xmlns:p14="http://schemas.microsoft.com/office/powerpoint/2010/main" val="3338839684"/>
              </p:ext>
            </p:extLst>
          </p:nvPr>
        </p:nvGraphicFramePr>
        <p:xfrm>
          <a:off x="457200" y="3273487"/>
          <a:ext cx="5806440" cy="3169920"/>
        </p:xfrm>
        <a:graphic>
          <a:graphicData uri="http://schemas.openxmlformats.org/drawingml/2006/table">
            <a:tbl>
              <a:tblPr firstRow="1" bandRow="1">
                <a:tableStyleId>{5C22544A-7EE6-4342-B048-85BDC9FD1C3A}</a:tableStyleId>
              </a:tblPr>
              <a:tblGrid>
                <a:gridCol w="3193542">
                  <a:extLst>
                    <a:ext uri="{9D8B030D-6E8A-4147-A177-3AD203B41FA5}">
                      <a16:colId xmlns:a16="http://schemas.microsoft.com/office/drawing/2014/main" val="20000"/>
                    </a:ext>
                  </a:extLst>
                </a:gridCol>
                <a:gridCol w="2612898">
                  <a:extLst>
                    <a:ext uri="{9D8B030D-6E8A-4147-A177-3AD203B41FA5}">
                      <a16:colId xmlns:a16="http://schemas.microsoft.com/office/drawing/2014/main" val="20001"/>
                    </a:ext>
                  </a:extLst>
                </a:gridCol>
              </a:tblGrid>
              <a:tr h="396240">
                <a:tc>
                  <a:txBody>
                    <a:bodyPr/>
                    <a:lstStyle/>
                    <a:p>
                      <a:pPr algn="l"/>
                      <a:r>
                        <a:rPr sz="1300" b="1" dirty="0">
                          <a:solidFill>
                            <a:srgbClr val="FFFFFF"/>
                          </a:solidFill>
                          <a:latin typeface="Calibri"/>
                        </a:rPr>
                        <a:t>Variable</a:t>
                      </a:r>
                    </a:p>
                  </a:txBody>
                  <a:tcPr marL="109728" marR="109728" anchor="ctr">
                    <a:solidFill>
                      <a:srgbClr val="1E2761"/>
                    </a:solidFill>
                  </a:tcPr>
                </a:tc>
                <a:tc>
                  <a:txBody>
                    <a:bodyPr/>
                    <a:lstStyle/>
                    <a:p>
                      <a:pPr algn="ctr"/>
                      <a:r>
                        <a:rPr sz="1300" b="1">
                          <a:solidFill>
                            <a:srgbClr val="FFFFFF"/>
                          </a:solidFill>
                          <a:latin typeface="Calibri"/>
                        </a:rPr>
                        <a:t>Coefficient</a:t>
                      </a:r>
                    </a:p>
                  </a:txBody>
                  <a:tcPr marL="109728" marR="109728" anchor="ctr">
                    <a:solidFill>
                      <a:srgbClr val="1E2761"/>
                    </a:solidFill>
                  </a:tcPr>
                </a:tc>
                <a:extLst>
                  <a:ext uri="{0D108BD9-81ED-4DB2-BD59-A6C34878D82A}">
                    <a16:rowId xmlns:a16="http://schemas.microsoft.com/office/drawing/2014/main" val="10000"/>
                  </a:ext>
                </a:extLst>
              </a:tr>
              <a:tr h="396240">
                <a:tc>
                  <a:txBody>
                    <a:bodyPr/>
                    <a:lstStyle/>
                    <a:p>
                      <a:pPr algn="l"/>
                      <a:r>
                        <a:rPr sz="1150">
                          <a:solidFill>
                            <a:srgbClr val="1F2340"/>
                          </a:solidFill>
                          <a:latin typeface="Calibri"/>
                        </a:rPr>
                        <a:t>PT08.S1 (CO)</a:t>
                      </a:r>
                    </a:p>
                  </a:txBody>
                  <a:tcPr marL="109728" marR="109728" anchor="ctr">
                    <a:solidFill>
                      <a:srgbClr val="F4F6FC"/>
                    </a:solidFill>
                  </a:tcPr>
                </a:tc>
                <a:tc>
                  <a:txBody>
                    <a:bodyPr/>
                    <a:lstStyle/>
                    <a:p>
                      <a:pPr algn="ctr"/>
                      <a:r>
                        <a:rPr sz="1150" dirty="0">
                          <a:solidFill>
                            <a:srgbClr val="1F2340"/>
                          </a:solidFill>
                          <a:latin typeface="Calibri"/>
                        </a:rPr>
                        <a:t>0.</a:t>
                      </a:r>
                      <a:r>
                        <a:rPr lang="en-IN" sz="1150" dirty="0">
                          <a:solidFill>
                            <a:srgbClr val="1F2340"/>
                          </a:solidFill>
                          <a:latin typeface="Calibri"/>
                        </a:rPr>
                        <a:t>5759</a:t>
                      </a:r>
                      <a:r>
                        <a:rPr sz="1150" dirty="0">
                          <a:solidFill>
                            <a:srgbClr val="1F2340"/>
                          </a:solidFill>
                          <a:latin typeface="Calibri"/>
                        </a:rPr>
                        <a:t> (p = 0.000)</a:t>
                      </a:r>
                    </a:p>
                  </a:txBody>
                  <a:tcPr marL="109728" marR="109728" anchor="ctr">
                    <a:solidFill>
                      <a:srgbClr val="F4F6FC"/>
                    </a:solidFill>
                  </a:tcPr>
                </a:tc>
                <a:extLst>
                  <a:ext uri="{0D108BD9-81ED-4DB2-BD59-A6C34878D82A}">
                    <a16:rowId xmlns:a16="http://schemas.microsoft.com/office/drawing/2014/main" val="10002"/>
                  </a:ext>
                </a:extLst>
              </a:tr>
              <a:tr h="396240">
                <a:tc>
                  <a:txBody>
                    <a:bodyPr/>
                    <a:lstStyle/>
                    <a:p>
                      <a:pPr algn="l"/>
                      <a:r>
                        <a:rPr sz="1150">
                          <a:solidFill>
                            <a:srgbClr val="1F2340"/>
                          </a:solidFill>
                          <a:latin typeface="Calibri"/>
                        </a:rPr>
                        <a:t>PT08.S2 (NMHC)</a:t>
                      </a:r>
                    </a:p>
                  </a:txBody>
                  <a:tcPr marL="109728" marR="109728" anchor="ctr">
                    <a:solidFill>
                      <a:srgbClr val="FFFFFF"/>
                    </a:solidFill>
                  </a:tcPr>
                </a:tc>
                <a:tc>
                  <a:txBody>
                    <a:bodyPr/>
                    <a:lstStyle/>
                    <a:p>
                      <a:pPr algn="ctr"/>
                      <a:r>
                        <a:rPr lang="en-IN" sz="1150" dirty="0">
                          <a:solidFill>
                            <a:srgbClr val="1F2340"/>
                          </a:solidFill>
                          <a:latin typeface="Calibri"/>
                        </a:rPr>
                        <a:t>1.0989</a:t>
                      </a:r>
                      <a:r>
                        <a:rPr sz="1150" dirty="0">
                          <a:solidFill>
                            <a:srgbClr val="1F2340"/>
                          </a:solidFill>
                          <a:latin typeface="Calibri"/>
                        </a:rPr>
                        <a:t> (p = 0.000)</a:t>
                      </a:r>
                    </a:p>
                  </a:txBody>
                  <a:tcPr marL="109728" marR="109728" anchor="ctr">
                    <a:solidFill>
                      <a:srgbClr val="FFFFFF"/>
                    </a:solidFill>
                  </a:tcPr>
                </a:tc>
                <a:extLst>
                  <a:ext uri="{0D108BD9-81ED-4DB2-BD59-A6C34878D82A}">
                    <a16:rowId xmlns:a16="http://schemas.microsoft.com/office/drawing/2014/main" val="10003"/>
                  </a:ext>
                </a:extLst>
              </a:tr>
              <a:tr h="396240">
                <a:tc>
                  <a:txBody>
                    <a:bodyPr/>
                    <a:lstStyle/>
                    <a:p>
                      <a:pPr algn="l"/>
                      <a:r>
                        <a:rPr sz="1150">
                          <a:solidFill>
                            <a:srgbClr val="1F2340"/>
                          </a:solidFill>
                          <a:latin typeface="Calibri"/>
                        </a:rPr>
                        <a:t>PT08.S3 (NOx)</a:t>
                      </a:r>
                    </a:p>
                  </a:txBody>
                  <a:tcPr marL="109728" marR="109728" anchor="ctr">
                    <a:solidFill>
                      <a:srgbClr val="F4F6FC"/>
                    </a:solidFill>
                  </a:tcPr>
                </a:tc>
                <a:tc>
                  <a:txBody>
                    <a:bodyPr/>
                    <a:lstStyle/>
                    <a:p>
                      <a:pPr algn="ctr"/>
                      <a:r>
                        <a:rPr sz="1150" dirty="0">
                          <a:solidFill>
                            <a:srgbClr val="1F2340"/>
                          </a:solidFill>
                          <a:latin typeface="Calibri"/>
                        </a:rPr>
                        <a:t>−0.0</a:t>
                      </a:r>
                      <a:r>
                        <a:rPr lang="en-IN" sz="1150" dirty="0">
                          <a:solidFill>
                            <a:srgbClr val="1F2340"/>
                          </a:solidFill>
                          <a:latin typeface="Calibri"/>
                        </a:rPr>
                        <a:t>577</a:t>
                      </a:r>
                      <a:r>
                        <a:rPr sz="1150" dirty="0">
                          <a:solidFill>
                            <a:srgbClr val="1F2340"/>
                          </a:solidFill>
                          <a:latin typeface="Calibri"/>
                        </a:rPr>
                        <a:t> (p = 0.187)</a:t>
                      </a:r>
                    </a:p>
                  </a:txBody>
                  <a:tcPr marL="109728" marR="109728" anchor="ctr">
                    <a:solidFill>
                      <a:srgbClr val="F4F6FC"/>
                    </a:solidFill>
                  </a:tcPr>
                </a:tc>
                <a:extLst>
                  <a:ext uri="{0D108BD9-81ED-4DB2-BD59-A6C34878D82A}">
                    <a16:rowId xmlns:a16="http://schemas.microsoft.com/office/drawing/2014/main" val="10004"/>
                  </a:ext>
                </a:extLst>
              </a:tr>
              <a:tr h="396240">
                <a:tc>
                  <a:txBody>
                    <a:bodyPr/>
                    <a:lstStyle/>
                    <a:p>
                      <a:pPr algn="l"/>
                      <a:r>
                        <a:rPr sz="1150">
                          <a:solidFill>
                            <a:srgbClr val="1F2340"/>
                          </a:solidFill>
                          <a:latin typeface="Calibri"/>
                        </a:rPr>
                        <a:t>PT08.S4 (NO2)</a:t>
                      </a:r>
                    </a:p>
                  </a:txBody>
                  <a:tcPr marL="109728" marR="109728" anchor="ctr">
                    <a:solidFill>
                      <a:srgbClr val="FFFFFF"/>
                    </a:solidFill>
                  </a:tcPr>
                </a:tc>
                <a:tc>
                  <a:txBody>
                    <a:bodyPr/>
                    <a:lstStyle/>
                    <a:p>
                      <a:pPr algn="ctr"/>
                      <a:r>
                        <a:rPr sz="1150" dirty="0">
                          <a:solidFill>
                            <a:srgbClr val="1F2340"/>
                          </a:solidFill>
                          <a:latin typeface="Calibri"/>
                        </a:rPr>
                        <a:t>−</a:t>
                      </a:r>
                      <a:r>
                        <a:rPr lang="en-IN" sz="1150" dirty="0">
                          <a:solidFill>
                            <a:srgbClr val="1F2340"/>
                          </a:solidFill>
                          <a:latin typeface="Calibri"/>
                        </a:rPr>
                        <a:t>1.0075</a:t>
                      </a:r>
                      <a:r>
                        <a:rPr sz="1150" dirty="0">
                          <a:solidFill>
                            <a:srgbClr val="1F2340"/>
                          </a:solidFill>
                          <a:latin typeface="Calibri"/>
                        </a:rPr>
                        <a:t> (p = 0.000)</a:t>
                      </a:r>
                    </a:p>
                  </a:txBody>
                  <a:tcPr marL="109728" marR="109728" anchor="ctr">
                    <a:solidFill>
                      <a:srgbClr val="FFFFFF"/>
                    </a:solidFill>
                  </a:tcPr>
                </a:tc>
                <a:extLst>
                  <a:ext uri="{0D108BD9-81ED-4DB2-BD59-A6C34878D82A}">
                    <a16:rowId xmlns:a16="http://schemas.microsoft.com/office/drawing/2014/main" val="10005"/>
                  </a:ext>
                </a:extLst>
              </a:tr>
              <a:tr h="396240">
                <a:tc>
                  <a:txBody>
                    <a:bodyPr/>
                    <a:lstStyle/>
                    <a:p>
                      <a:pPr algn="l"/>
                      <a:r>
                        <a:rPr sz="1150">
                          <a:solidFill>
                            <a:srgbClr val="1F2340"/>
                          </a:solidFill>
                          <a:latin typeface="Calibri"/>
                        </a:rPr>
                        <a:t>PT08.S5 (O3)</a:t>
                      </a:r>
                    </a:p>
                  </a:txBody>
                  <a:tcPr marL="109728" marR="109728" anchor="ctr">
                    <a:solidFill>
                      <a:srgbClr val="F4F6FC"/>
                    </a:solidFill>
                  </a:tcPr>
                </a:tc>
                <a:tc>
                  <a:txBody>
                    <a:bodyPr/>
                    <a:lstStyle/>
                    <a:p>
                      <a:pPr algn="ctr"/>
                      <a:r>
                        <a:rPr sz="1150" dirty="0">
                          <a:solidFill>
                            <a:srgbClr val="1F2340"/>
                          </a:solidFill>
                          <a:latin typeface="Calibri"/>
                        </a:rPr>
                        <a:t>0.</a:t>
                      </a:r>
                      <a:r>
                        <a:rPr lang="en-IN" sz="1150" dirty="0">
                          <a:solidFill>
                            <a:srgbClr val="1F2340"/>
                          </a:solidFill>
                          <a:latin typeface="Calibri"/>
                        </a:rPr>
                        <a:t>1636</a:t>
                      </a:r>
                      <a:r>
                        <a:rPr sz="1150" dirty="0">
                          <a:solidFill>
                            <a:srgbClr val="1F2340"/>
                          </a:solidFill>
                          <a:latin typeface="Calibri"/>
                        </a:rPr>
                        <a:t> (p = 0.000)</a:t>
                      </a:r>
                    </a:p>
                  </a:txBody>
                  <a:tcPr marL="109728" marR="109728" anchor="ctr">
                    <a:solidFill>
                      <a:srgbClr val="F4F6FC"/>
                    </a:solidFill>
                  </a:tcPr>
                </a:tc>
                <a:extLst>
                  <a:ext uri="{0D108BD9-81ED-4DB2-BD59-A6C34878D82A}">
                    <a16:rowId xmlns:a16="http://schemas.microsoft.com/office/drawing/2014/main" val="10006"/>
                  </a:ext>
                </a:extLst>
              </a:tr>
              <a:tr h="396240">
                <a:tc>
                  <a:txBody>
                    <a:bodyPr/>
                    <a:lstStyle/>
                    <a:p>
                      <a:pPr algn="l"/>
                      <a:r>
                        <a:rPr sz="1150">
                          <a:solidFill>
                            <a:srgbClr val="1F2340"/>
                          </a:solidFill>
                          <a:latin typeface="Calibri"/>
                        </a:rPr>
                        <a:t>T</a:t>
                      </a:r>
                    </a:p>
                  </a:txBody>
                  <a:tcPr marL="109728" marR="109728" anchor="ctr">
                    <a:solidFill>
                      <a:srgbClr val="FFFFFF"/>
                    </a:solidFill>
                  </a:tcPr>
                </a:tc>
                <a:tc>
                  <a:txBody>
                    <a:bodyPr/>
                    <a:lstStyle/>
                    <a:p>
                      <a:pPr algn="ctr"/>
                      <a:r>
                        <a:rPr sz="1150" dirty="0">
                          <a:solidFill>
                            <a:srgbClr val="1F2340"/>
                          </a:solidFill>
                          <a:latin typeface="Calibri"/>
                        </a:rPr>
                        <a:t>−0.0</a:t>
                      </a:r>
                      <a:r>
                        <a:rPr lang="en-IN" sz="1150" dirty="0">
                          <a:solidFill>
                            <a:srgbClr val="1F2340"/>
                          </a:solidFill>
                          <a:latin typeface="Calibri"/>
                        </a:rPr>
                        <a:t>065</a:t>
                      </a:r>
                      <a:r>
                        <a:rPr sz="1150" dirty="0">
                          <a:solidFill>
                            <a:srgbClr val="1F2340"/>
                          </a:solidFill>
                          <a:latin typeface="Calibri"/>
                        </a:rPr>
                        <a:t> (p = 0.727)</a:t>
                      </a:r>
                    </a:p>
                  </a:txBody>
                  <a:tcPr marL="109728" marR="109728" anchor="ctr">
                    <a:solidFill>
                      <a:srgbClr val="FFFFFF"/>
                    </a:solidFill>
                  </a:tcPr>
                </a:tc>
                <a:extLst>
                  <a:ext uri="{0D108BD9-81ED-4DB2-BD59-A6C34878D82A}">
                    <a16:rowId xmlns:a16="http://schemas.microsoft.com/office/drawing/2014/main" val="10007"/>
                  </a:ext>
                </a:extLst>
              </a:tr>
              <a:tr h="396240">
                <a:tc>
                  <a:txBody>
                    <a:bodyPr/>
                    <a:lstStyle/>
                    <a:p>
                      <a:pPr algn="l"/>
                      <a:r>
                        <a:rPr sz="1150">
                          <a:solidFill>
                            <a:srgbClr val="1F2340"/>
                          </a:solidFill>
                          <a:latin typeface="Calibri"/>
                        </a:rPr>
                        <a:t>AH</a:t>
                      </a:r>
                    </a:p>
                  </a:txBody>
                  <a:tcPr marL="109728" marR="109728" anchor="ctr">
                    <a:solidFill>
                      <a:srgbClr val="F4F6FC"/>
                    </a:solidFill>
                  </a:tcPr>
                </a:tc>
                <a:tc>
                  <a:txBody>
                    <a:bodyPr/>
                    <a:lstStyle/>
                    <a:p>
                      <a:pPr algn="ctr"/>
                      <a:r>
                        <a:rPr lang="en-IN" sz="1150" dirty="0">
                          <a:solidFill>
                            <a:srgbClr val="1F2340"/>
                          </a:solidFill>
                          <a:latin typeface="Calibri"/>
                        </a:rPr>
                        <a:t>0.0447</a:t>
                      </a:r>
                      <a:r>
                        <a:rPr sz="1150" dirty="0">
                          <a:solidFill>
                            <a:srgbClr val="1F2340"/>
                          </a:solidFill>
                          <a:latin typeface="Calibri"/>
                        </a:rPr>
                        <a:t> (p = 0.138)</a:t>
                      </a:r>
                    </a:p>
                  </a:txBody>
                  <a:tcPr marL="109728" marR="109728" anchor="ctr">
                    <a:solidFill>
                      <a:srgbClr val="F4F6FC"/>
                    </a:solidFill>
                  </a:tcPr>
                </a:tc>
                <a:extLst>
                  <a:ext uri="{0D108BD9-81ED-4DB2-BD59-A6C34878D82A}">
                    <a16:rowId xmlns:a16="http://schemas.microsoft.com/office/drawing/2014/main" val="10008"/>
                  </a:ext>
                </a:extLst>
              </a:tr>
            </a:tbl>
          </a:graphicData>
        </a:graphic>
      </p:graphicFrame>
      <p:sp>
        <p:nvSpPr>
          <p:cNvPr id="9" name="Rounded Rectangle 8"/>
          <p:cNvSpPr/>
          <p:nvPr/>
        </p:nvSpPr>
        <p:spPr>
          <a:xfrm>
            <a:off x="6629400" y="2581275"/>
            <a:ext cx="5029200" cy="3566160"/>
          </a:xfrm>
          <a:prstGeom prst="roundRect">
            <a:avLst>
              <a:gd name="adj" fmla="val 6000"/>
            </a:avLst>
          </a:prstGeom>
          <a:solidFill>
            <a:srgbClr val="FFFFFF"/>
          </a:solidFill>
          <a:ln w="12700">
            <a:solidFill>
              <a:srgbClr val="D9DE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29400" y="6220587"/>
            <a:ext cx="5029200" cy="274320"/>
          </a:xfrm>
          <a:prstGeom prst="rect">
            <a:avLst/>
          </a:prstGeom>
          <a:noFill/>
        </p:spPr>
        <p:txBody>
          <a:bodyPr wrap="square">
            <a:spAutoFit/>
          </a:bodyPr>
          <a:lstStyle/>
          <a:p>
            <a:pPr algn="ctr"/>
            <a:r>
              <a:rPr sz="1100" i="1">
                <a:solidFill>
                  <a:srgbClr val="5B6488"/>
                </a:solidFill>
                <a:latin typeface="Calibri"/>
              </a:rPr>
              <a:t>Baseline Model: Residuals vs. Fitted Values</a:t>
            </a:r>
          </a:p>
        </p:txBody>
      </p:sp>
      <p:sp>
        <p:nvSpPr>
          <p:cNvPr id="12" name="TextBox 11"/>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3" name="TextBox 12"/>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10</a:t>
            </a:r>
          </a:p>
        </p:txBody>
      </p:sp>
      <p:cxnSp>
        <p:nvCxnSpPr>
          <p:cNvPr id="14" name="Connector 8">
            <a:extLst>
              <a:ext uri="{FF2B5EF4-FFF2-40B4-BE49-F238E27FC236}">
                <a16:creationId xmlns:a16="http://schemas.microsoft.com/office/drawing/2014/main" id="{8BAAC69F-5828-16F3-6B94-99BBD0D374EF}"/>
              </a:ext>
            </a:extLst>
          </p:cNvPr>
          <p:cNvCxnSpPr>
            <a:cxnSpLocks/>
          </p:cNvCxnSpPr>
          <p:nvPr/>
        </p:nvCxnSpPr>
        <p:spPr>
          <a:xfrm>
            <a:off x="664339" y="1261498"/>
            <a:ext cx="5213947"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D90F47E-4D2D-51A4-449E-10DA4D032120}"/>
                  </a:ext>
                </a:extLst>
              </p:cNvPr>
              <p:cNvSpPr txBox="1"/>
              <p:nvPr/>
            </p:nvSpPr>
            <p:spPr>
              <a:xfrm>
                <a:off x="664339" y="2476173"/>
                <a:ext cx="858760" cy="236475"/>
              </a:xfrm>
              <a:prstGeom prst="rect">
                <a:avLst/>
              </a:prstGeom>
              <a:noFill/>
            </p:spPr>
            <p:txBody>
              <a:bodyPr wrap="none" lIns="0" tIns="0" rIns="0" bIns="0" rtlCol="0">
                <a:spAutoFit/>
              </a:bodyPr>
              <a:lstStyle/>
              <a:p>
                <a:pPr/>
                <a14:m>
                  <m:oMathPara xmlns:m="http://schemas.openxmlformats.org/officeDocument/2006/math">
                    <m:oMath>
                      <m:sSub>
                        <m:sSubPr>
                          <m:ctrlPr>
                            <a:rPr lang="en-IN" sz="1400" i="1" smtClean="0">
                              <a:latin typeface="Cambria Math" panose="02040503050406030204" pitchFamily="18" charset="0"/>
                            </a:rPr>
                          </m:ctrlPr>
                        </m:sSubPr>
                        <m:e>
                          <m:r>
                            <a:rPr lang="en-IN" sz="1400" i="1" smtClean="0">
                              <a:latin typeface="Cambria Math" panose="02040503050406030204" pitchFamily="18" charset="0"/>
                            </a:rPr>
                            <m:t>𝐻</m:t>
                          </m:r>
                        </m:e>
                        <m:sub>
                          <m:sSub>
                            <m:sSubPr>
                              <m:ctrlPr>
                                <a:rPr lang="en-IN" sz="1400" i="1" smtClean="0">
                                  <a:latin typeface="Cambria Math" panose="02040503050406030204" pitchFamily="18" charset="0"/>
                                </a:rPr>
                              </m:ctrlPr>
                            </m:sSubPr>
                            <m:e>
                              <m:r>
                                <a:rPr lang="en-IN" sz="1400" i="1" smtClean="0">
                                  <a:latin typeface="Cambria Math" panose="02040503050406030204" pitchFamily="18" charset="0"/>
                                </a:rPr>
                                <m:t>𝑜</m:t>
                              </m:r>
                            </m:e>
                            <m:sub>
                              <m:r>
                                <a:rPr lang="en-IN" sz="1400" i="1" smtClean="0">
                                  <a:latin typeface="Cambria Math" panose="02040503050406030204" pitchFamily="18" charset="0"/>
                                </a:rPr>
                                <m:t>ⅈ</m:t>
                              </m:r>
                            </m:sub>
                          </m:sSub>
                        </m:sub>
                      </m:sSub>
                      <m:r>
                        <a:rPr lang="en-IN" sz="1400" b="0" i="1" smtClean="0">
                          <a:latin typeface="Cambria Math" panose="02040503050406030204" pitchFamily="18" charset="0"/>
                        </a:rPr>
                        <m:t>:</m:t>
                      </m:r>
                      <m:sSub>
                        <m:sSubPr>
                          <m:ctrlPr>
                            <a:rPr lang="en-IN" sz="1400" i="1" dirty="0">
                              <a:latin typeface="Cambria Math" panose="02040503050406030204" pitchFamily="18" charset="0"/>
                            </a:rPr>
                          </m:ctrlPr>
                        </m:sSubPr>
                        <m:e>
                          <m:r>
                            <a:rPr lang="en-IN" sz="1400" i="1" dirty="0">
                              <a:latin typeface="Cambria Math" panose="02040503050406030204" pitchFamily="18" charset="0"/>
                            </a:rPr>
                            <m:t>𝛽</m:t>
                          </m:r>
                        </m:e>
                        <m:sub>
                          <m:r>
                            <a:rPr lang="en-IN" sz="1400" i="1" dirty="0">
                              <a:latin typeface="Cambria Math" panose="02040503050406030204" pitchFamily="18" charset="0"/>
                            </a:rPr>
                            <m:t>𝑖</m:t>
                          </m:r>
                        </m:sub>
                      </m:sSub>
                      <m:r>
                        <a:rPr lang="en-IN" sz="1400" i="0" dirty="0">
                          <a:latin typeface="Cambria Math" panose="02040503050406030204" pitchFamily="18" charset="0"/>
                        </a:rPr>
                        <m:t>=0</m:t>
                      </m:r>
                    </m:oMath>
                  </m:oMathPara>
                </a14:m>
                <a:endParaRPr lang="en-IN" sz="1400" dirty="0"/>
              </a:p>
            </p:txBody>
          </p:sp>
        </mc:Choice>
        <mc:Fallback xmlns="">
          <p:sp>
            <p:nvSpPr>
              <p:cNvPr id="15" name="TextBox 14">
                <a:extLst>
                  <a:ext uri="{FF2B5EF4-FFF2-40B4-BE49-F238E27FC236}">
                    <a16:creationId xmlns:a16="http://schemas.microsoft.com/office/drawing/2014/main" id="{0D90F47E-4D2D-51A4-449E-10DA4D032120}"/>
                  </a:ext>
                </a:extLst>
              </p:cNvPr>
              <p:cNvSpPr txBox="1">
                <a:spLocks noRot="1" noChangeAspect="1" noMove="1" noResize="1" noEditPoints="1" noAdjustHandles="1" noChangeArrowheads="1" noChangeShapeType="1" noTextEdit="1"/>
              </p:cNvSpPr>
              <p:nvPr/>
            </p:nvSpPr>
            <p:spPr>
              <a:xfrm>
                <a:off x="664339" y="2476173"/>
                <a:ext cx="858760" cy="236475"/>
              </a:xfrm>
              <a:prstGeom prst="rect">
                <a:avLst/>
              </a:prstGeom>
              <a:blipFill>
                <a:blip r:embed="rId3"/>
                <a:stretch>
                  <a:fillRect l="-4255" r="-4255" b="-23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176D1C0-B25C-C07E-A85A-046564E4009B}"/>
                  </a:ext>
                </a:extLst>
              </p:cNvPr>
              <p:cNvSpPr txBox="1"/>
              <p:nvPr/>
            </p:nvSpPr>
            <p:spPr>
              <a:xfrm>
                <a:off x="664339" y="2891834"/>
                <a:ext cx="858761" cy="236475"/>
              </a:xfrm>
              <a:prstGeom prst="rect">
                <a:avLst/>
              </a:prstGeom>
              <a:noFill/>
            </p:spPr>
            <p:txBody>
              <a:bodyPr wrap="none" lIns="0" tIns="0" rIns="0" bIns="0" rtlCol="0">
                <a:spAutoFit/>
              </a:bodyPr>
              <a:lstStyle/>
              <a:p>
                <a:pPr/>
                <a14:m>
                  <m:oMathPara xmlns:m="http://schemas.openxmlformats.org/officeDocument/2006/math">
                    <m:oMath>
                      <m:sSub>
                        <m:sSubPr>
                          <m:ctrlPr>
                            <a:rPr lang="en-IN" sz="1400" i="1" smtClean="0">
                              <a:latin typeface="Cambria Math" panose="02040503050406030204" pitchFamily="18" charset="0"/>
                            </a:rPr>
                          </m:ctrlPr>
                        </m:sSubPr>
                        <m:e>
                          <m:r>
                            <a:rPr lang="en-IN" sz="1400" i="1" smtClean="0">
                              <a:latin typeface="Cambria Math" panose="02040503050406030204" pitchFamily="18" charset="0"/>
                            </a:rPr>
                            <m:t>𝐻</m:t>
                          </m:r>
                        </m:e>
                        <m:sub>
                          <m:sSub>
                            <m:sSubPr>
                              <m:ctrlPr>
                                <a:rPr lang="en-IN" sz="1400" i="1" smtClean="0">
                                  <a:latin typeface="Cambria Math" panose="02040503050406030204" pitchFamily="18" charset="0"/>
                                </a:rPr>
                              </m:ctrlPr>
                            </m:sSubPr>
                            <m:e>
                              <m:r>
                                <a:rPr lang="en-IN" sz="1400" i="1" smtClean="0">
                                  <a:latin typeface="Cambria Math" panose="02040503050406030204" pitchFamily="18" charset="0"/>
                                </a:rPr>
                                <m:t>𝑜</m:t>
                              </m:r>
                            </m:e>
                            <m:sub>
                              <m:r>
                                <a:rPr lang="en-IN" sz="1400" i="1" smtClean="0">
                                  <a:latin typeface="Cambria Math" panose="02040503050406030204" pitchFamily="18" charset="0"/>
                                </a:rPr>
                                <m:t>ⅈ</m:t>
                              </m:r>
                            </m:sub>
                          </m:sSub>
                        </m:sub>
                      </m:sSub>
                      <m:r>
                        <a:rPr lang="en-IN" sz="1400" b="0" i="1" smtClean="0">
                          <a:latin typeface="Cambria Math" panose="02040503050406030204" pitchFamily="18" charset="0"/>
                        </a:rPr>
                        <m:t>:</m:t>
                      </m:r>
                      <m:sSub>
                        <m:sSubPr>
                          <m:ctrlPr>
                            <a:rPr lang="en-IN" sz="1400" i="1" dirty="0">
                              <a:latin typeface="Cambria Math" panose="02040503050406030204" pitchFamily="18" charset="0"/>
                            </a:rPr>
                          </m:ctrlPr>
                        </m:sSubPr>
                        <m:e>
                          <m:r>
                            <a:rPr lang="en-IN" sz="1400" i="1" dirty="0">
                              <a:latin typeface="Cambria Math" panose="02040503050406030204" pitchFamily="18" charset="0"/>
                            </a:rPr>
                            <m:t>𝛽</m:t>
                          </m:r>
                        </m:e>
                        <m:sub>
                          <m:r>
                            <a:rPr lang="en-IN" sz="1400" i="1" dirty="0">
                              <a:latin typeface="Cambria Math" panose="02040503050406030204" pitchFamily="18" charset="0"/>
                            </a:rPr>
                            <m:t>𝑖</m:t>
                          </m:r>
                        </m:sub>
                      </m:sSub>
                      <m:r>
                        <a:rPr lang="en-IN" sz="1400" dirty="0">
                          <a:latin typeface="Cambria Math" panose="02040503050406030204" pitchFamily="18" charset="0"/>
                        </a:rPr>
                        <m:t>≠</m:t>
                      </m:r>
                      <m:r>
                        <a:rPr lang="en-IN" sz="1400" i="0" dirty="0">
                          <a:latin typeface="Cambria Math" panose="02040503050406030204" pitchFamily="18" charset="0"/>
                        </a:rPr>
                        <m:t>0</m:t>
                      </m:r>
                    </m:oMath>
                  </m:oMathPara>
                </a14:m>
                <a:endParaRPr lang="en-IN" sz="1400" dirty="0"/>
              </a:p>
            </p:txBody>
          </p:sp>
        </mc:Choice>
        <mc:Fallback xmlns="">
          <p:sp>
            <p:nvSpPr>
              <p:cNvPr id="18" name="TextBox 17">
                <a:extLst>
                  <a:ext uri="{FF2B5EF4-FFF2-40B4-BE49-F238E27FC236}">
                    <a16:creationId xmlns:a16="http://schemas.microsoft.com/office/drawing/2014/main" id="{D176D1C0-B25C-C07E-A85A-046564E4009B}"/>
                  </a:ext>
                </a:extLst>
              </p:cNvPr>
              <p:cNvSpPr txBox="1">
                <a:spLocks noRot="1" noChangeAspect="1" noMove="1" noResize="1" noEditPoints="1" noAdjustHandles="1" noChangeArrowheads="1" noChangeShapeType="1" noTextEdit="1"/>
              </p:cNvSpPr>
              <p:nvPr/>
            </p:nvSpPr>
            <p:spPr>
              <a:xfrm>
                <a:off x="664339" y="2891834"/>
                <a:ext cx="858761" cy="236475"/>
              </a:xfrm>
              <a:prstGeom prst="rect">
                <a:avLst/>
              </a:prstGeom>
              <a:blipFill>
                <a:blip r:embed="rId4"/>
                <a:stretch>
                  <a:fillRect l="-4255" r="-4255" b="-23077"/>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02D050D2-9323-1623-023F-6E27FBB1C9FE}"/>
              </a:ext>
            </a:extLst>
          </p:cNvPr>
          <p:cNvSpPr txBox="1"/>
          <p:nvPr/>
        </p:nvSpPr>
        <p:spPr>
          <a:xfrm>
            <a:off x="1523099" y="2442775"/>
            <a:ext cx="3914533" cy="276999"/>
          </a:xfrm>
          <a:prstGeom prst="rect">
            <a:avLst/>
          </a:prstGeom>
          <a:noFill/>
        </p:spPr>
        <p:txBody>
          <a:bodyPr wrap="none" rtlCol="0">
            <a:spAutoFit/>
          </a:bodyPr>
          <a:lstStyle/>
          <a:p>
            <a:r>
              <a:rPr lang="en-IN" sz="1200" dirty="0">
                <a:latin typeface="+mj-lt"/>
              </a:rPr>
              <a:t>(The independent variable </a:t>
            </a:r>
            <a:r>
              <a:rPr lang="en-IN" sz="1200" dirty="0" err="1">
                <a:latin typeface="+mj-lt"/>
              </a:rPr>
              <a:t>i</a:t>
            </a:r>
            <a:r>
              <a:rPr lang="en-IN" sz="1200" dirty="0">
                <a:latin typeface="+mj-lt"/>
              </a:rPr>
              <a:t> has no significant effect on AQI)</a:t>
            </a:r>
          </a:p>
        </p:txBody>
      </p:sp>
      <p:sp>
        <p:nvSpPr>
          <p:cNvPr id="25" name="TextBox 24">
            <a:extLst>
              <a:ext uri="{FF2B5EF4-FFF2-40B4-BE49-F238E27FC236}">
                <a16:creationId xmlns:a16="http://schemas.microsoft.com/office/drawing/2014/main" id="{001C7F50-46BB-7EAB-9F2F-BB0F988E7F5E}"/>
              </a:ext>
            </a:extLst>
          </p:cNvPr>
          <p:cNvSpPr txBox="1"/>
          <p:nvPr/>
        </p:nvSpPr>
        <p:spPr>
          <a:xfrm>
            <a:off x="1523100" y="2848092"/>
            <a:ext cx="3914533" cy="276999"/>
          </a:xfrm>
          <a:prstGeom prst="rect">
            <a:avLst/>
          </a:prstGeom>
          <a:noFill/>
        </p:spPr>
        <p:txBody>
          <a:bodyPr wrap="none" rtlCol="0">
            <a:spAutoFit/>
          </a:bodyPr>
          <a:lstStyle/>
          <a:p>
            <a:r>
              <a:rPr lang="en-IN" sz="1200" dirty="0">
                <a:latin typeface="+mj-lt"/>
              </a:rPr>
              <a:t>(The independent variable </a:t>
            </a:r>
            <a:r>
              <a:rPr lang="en-IN" sz="1200" dirty="0" err="1">
                <a:latin typeface="+mj-lt"/>
              </a:rPr>
              <a:t>i</a:t>
            </a:r>
            <a:r>
              <a:rPr lang="en-IN" sz="1200" dirty="0">
                <a:latin typeface="+mj-lt"/>
              </a:rPr>
              <a:t> has a significant effect on AQI)</a:t>
            </a:r>
          </a:p>
        </p:txBody>
      </p:sp>
      <p:pic>
        <p:nvPicPr>
          <p:cNvPr id="16" name="Picture 15">
            <a:extLst>
              <a:ext uri="{FF2B5EF4-FFF2-40B4-BE49-F238E27FC236}">
                <a16:creationId xmlns:a16="http://schemas.microsoft.com/office/drawing/2014/main" id="{F3E863CF-9E3E-58A5-7C9F-752F142157BC}"/>
              </a:ext>
            </a:extLst>
          </p:cNvPr>
          <p:cNvPicPr>
            <a:picLocks noChangeAspect="1"/>
          </p:cNvPicPr>
          <p:nvPr/>
        </p:nvPicPr>
        <p:blipFill>
          <a:blip r:embed="rId5"/>
          <a:stretch>
            <a:fillRect/>
          </a:stretch>
        </p:blipFill>
        <p:spPr>
          <a:xfrm>
            <a:off x="6931743" y="2647454"/>
            <a:ext cx="4406817" cy="34338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DIAGNOSTICS</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500" b="1">
                <a:solidFill>
                  <a:srgbClr val="1E2761"/>
                </a:solidFill>
                <a:latin typeface="Cambria"/>
              </a:rPr>
              <a:t>Multicollinearity &amp; Variance Inflation Factors (VIF)</a:t>
            </a:r>
          </a:p>
        </p:txBody>
      </p:sp>
      <p:sp>
        <p:nvSpPr>
          <p:cNvPr id="5" name="TextBox 4"/>
          <p:cNvSpPr txBox="1"/>
          <p:nvPr/>
        </p:nvSpPr>
        <p:spPr>
          <a:xfrm>
            <a:off x="548640" y="1600200"/>
            <a:ext cx="11064240" cy="1563120"/>
          </a:xfrm>
          <a:prstGeom prst="rect">
            <a:avLst/>
          </a:prstGeom>
          <a:noFill/>
        </p:spPr>
        <p:txBody>
          <a:bodyPr wrap="square">
            <a:spAutoFit/>
          </a:bodyPr>
          <a:lstStyle/>
          <a:p>
            <a:pPr marL="256032" indent="-256032" algn="just">
              <a:lnSpc>
                <a:spcPct val="150000"/>
              </a:lnSpc>
              <a:spcAft>
                <a:spcPts val="1000"/>
              </a:spcAft>
              <a:buFont typeface="Arial"/>
              <a:buChar char="•"/>
            </a:pPr>
            <a:r>
              <a:rPr sz="1350" dirty="0">
                <a:solidFill>
                  <a:srgbClr val="1F2340"/>
                </a:solidFill>
                <a:latin typeface="Calibri"/>
              </a:rPr>
              <a:t>Variance Inflation Factor (VIF) scores confirmed extreme structural collinearity across the feature set.</a:t>
            </a:r>
          </a:p>
          <a:p>
            <a:pPr marL="256032" indent="-256032" algn="just">
              <a:lnSpc>
                <a:spcPct val="150000"/>
              </a:lnSpc>
              <a:spcAft>
                <a:spcPts val="1000"/>
              </a:spcAft>
              <a:buFont typeface="Arial"/>
              <a:buChar char="•"/>
            </a:pPr>
            <a:r>
              <a:rPr sz="1350" dirty="0">
                <a:solidFill>
                  <a:srgbClr val="1F2340"/>
                </a:solidFill>
                <a:latin typeface="Calibri"/>
              </a:rPr>
              <a:t>The NMHC sensor reached a highly unstable VIF of 73.49, indicating that its information is almost entirely redundant and inflated by other predictors.</a:t>
            </a:r>
          </a:p>
          <a:p>
            <a:pPr marL="256032" indent="-256032" algn="just">
              <a:lnSpc>
                <a:spcPct val="150000"/>
              </a:lnSpc>
              <a:spcAft>
                <a:spcPts val="1000"/>
              </a:spcAft>
              <a:buFont typeface="Arial"/>
              <a:buChar char="•"/>
            </a:pPr>
            <a:r>
              <a:rPr sz="1350" dirty="0">
                <a:solidFill>
                  <a:srgbClr val="1F2340"/>
                </a:solidFill>
                <a:latin typeface="Calibri"/>
              </a:rPr>
              <a:t>To mathematically resolve this, backward elimination iteratively dropped any variable with a VIF exceeding the strict 5.0 threshold, successfully removing NMHC, NO2, and O3.</a:t>
            </a:r>
          </a:p>
        </p:txBody>
      </p:sp>
      <p:graphicFrame>
        <p:nvGraphicFramePr>
          <p:cNvPr id="6" name="Table 5"/>
          <p:cNvGraphicFramePr>
            <a:graphicFrameLocks noGrp="1"/>
          </p:cNvGraphicFramePr>
          <p:nvPr>
            <p:extLst>
              <p:ext uri="{D42A27DB-BD31-4B8C-83A1-F6EECF244321}">
                <p14:modId xmlns:p14="http://schemas.microsoft.com/office/powerpoint/2010/main" val="2152746164"/>
              </p:ext>
            </p:extLst>
          </p:nvPr>
        </p:nvGraphicFramePr>
        <p:xfrm>
          <a:off x="3127248" y="3383280"/>
          <a:ext cx="5943600" cy="3063240"/>
        </p:xfrm>
        <a:graphic>
          <a:graphicData uri="http://schemas.openxmlformats.org/drawingml/2006/table">
            <a:tbl>
              <a:tblPr firstRow="1" bandRow="1">
                <a:tableStyleId>{5C22544A-7EE6-4342-B048-85BDC9FD1C3A}</a:tableStyleId>
              </a:tblPr>
              <a:tblGrid>
                <a:gridCol w="3268980">
                  <a:extLst>
                    <a:ext uri="{9D8B030D-6E8A-4147-A177-3AD203B41FA5}">
                      <a16:colId xmlns:a16="http://schemas.microsoft.com/office/drawing/2014/main" val="20000"/>
                    </a:ext>
                  </a:extLst>
                </a:gridCol>
                <a:gridCol w="668655">
                  <a:extLst>
                    <a:ext uri="{9D8B030D-6E8A-4147-A177-3AD203B41FA5}">
                      <a16:colId xmlns:a16="http://schemas.microsoft.com/office/drawing/2014/main" val="20001"/>
                    </a:ext>
                  </a:extLst>
                </a:gridCol>
                <a:gridCol w="668655">
                  <a:extLst>
                    <a:ext uri="{9D8B030D-6E8A-4147-A177-3AD203B41FA5}">
                      <a16:colId xmlns:a16="http://schemas.microsoft.com/office/drawing/2014/main" val="1008076938"/>
                    </a:ext>
                  </a:extLst>
                </a:gridCol>
                <a:gridCol w="668655">
                  <a:extLst>
                    <a:ext uri="{9D8B030D-6E8A-4147-A177-3AD203B41FA5}">
                      <a16:colId xmlns:a16="http://schemas.microsoft.com/office/drawing/2014/main" val="2081529615"/>
                    </a:ext>
                  </a:extLst>
                </a:gridCol>
                <a:gridCol w="668655">
                  <a:extLst>
                    <a:ext uri="{9D8B030D-6E8A-4147-A177-3AD203B41FA5}">
                      <a16:colId xmlns:a16="http://schemas.microsoft.com/office/drawing/2014/main" val="4029363547"/>
                    </a:ext>
                  </a:extLst>
                </a:gridCol>
              </a:tblGrid>
              <a:tr h="340360">
                <a:tc>
                  <a:txBody>
                    <a:bodyPr/>
                    <a:lstStyle/>
                    <a:p>
                      <a:pPr algn="l"/>
                      <a:r>
                        <a:rPr sz="1300" b="1">
                          <a:solidFill>
                            <a:srgbClr val="FFFFFF"/>
                          </a:solidFill>
                          <a:latin typeface="Calibri"/>
                        </a:rPr>
                        <a:t>Variable</a:t>
                      </a:r>
                    </a:p>
                  </a:txBody>
                  <a:tcPr marL="109728" marR="109728" anchor="ctr">
                    <a:solidFill>
                      <a:srgbClr val="1E2761"/>
                    </a:solidFill>
                  </a:tcPr>
                </a:tc>
                <a:tc gridSpan="4">
                  <a:txBody>
                    <a:bodyPr/>
                    <a:lstStyle/>
                    <a:p>
                      <a:pPr algn="ctr"/>
                      <a:r>
                        <a:rPr sz="1300" b="1" dirty="0">
                          <a:solidFill>
                            <a:srgbClr val="FFFFFF"/>
                          </a:solidFill>
                          <a:latin typeface="Calibri"/>
                        </a:rPr>
                        <a:t>VIF</a:t>
                      </a:r>
                    </a:p>
                  </a:txBody>
                  <a:tcPr marL="109728" marR="109728" anchor="ctr">
                    <a:solidFill>
                      <a:srgbClr val="1E2761"/>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340360">
                <a:tc>
                  <a:txBody>
                    <a:bodyPr/>
                    <a:lstStyle/>
                    <a:p>
                      <a:pPr algn="l"/>
                      <a:endParaRPr sz="1300" dirty="0">
                        <a:solidFill>
                          <a:srgbClr val="1F2340"/>
                        </a:solidFill>
                        <a:latin typeface="Calibri"/>
                      </a:endParaRPr>
                    </a:p>
                  </a:txBody>
                  <a:tcPr marL="109728" marR="109728" anchor="ctr">
                    <a:solidFill>
                      <a:srgbClr val="F4F6FC"/>
                    </a:solidFill>
                  </a:tcPr>
                </a:tc>
                <a:tc>
                  <a:txBody>
                    <a:bodyPr/>
                    <a:lstStyle/>
                    <a:p>
                      <a:pPr algn="ctr"/>
                      <a:r>
                        <a:rPr lang="en-IN" sz="1300" b="1" dirty="0">
                          <a:solidFill>
                            <a:srgbClr val="1F2340"/>
                          </a:solidFill>
                          <a:latin typeface="+mn-lt"/>
                        </a:rPr>
                        <a:t>Iter 1</a:t>
                      </a:r>
                    </a:p>
                  </a:txBody>
                  <a:tcPr marL="109728" marR="109728" anchor="ctr">
                    <a:solidFill>
                      <a:srgbClr val="F4F6FC"/>
                    </a:solidFill>
                  </a:tcPr>
                </a:tc>
                <a:tc>
                  <a:txBody>
                    <a:bodyPr/>
                    <a:lstStyle/>
                    <a:p>
                      <a:pPr algn="ctr"/>
                      <a:r>
                        <a:rPr lang="en-IN" sz="1300" b="1" dirty="0">
                          <a:solidFill>
                            <a:srgbClr val="1F2340"/>
                          </a:solidFill>
                          <a:latin typeface="+mn-lt"/>
                        </a:rPr>
                        <a:t>Iter 2</a:t>
                      </a:r>
                    </a:p>
                  </a:txBody>
                  <a:tcPr marL="109728" marR="109728" anchor="ctr">
                    <a:solidFill>
                      <a:srgbClr val="F4F6F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300" b="1" dirty="0">
                          <a:solidFill>
                            <a:srgbClr val="1F2340"/>
                          </a:solidFill>
                          <a:latin typeface="+mn-lt"/>
                        </a:rPr>
                        <a:t>Iter 3</a:t>
                      </a:r>
                    </a:p>
                  </a:txBody>
                  <a:tcPr marL="109728" marR="109728" anchor="ctr">
                    <a:solidFill>
                      <a:srgbClr val="F4F6FC"/>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1300" b="1" dirty="0">
                          <a:solidFill>
                            <a:srgbClr val="1F2340"/>
                          </a:solidFill>
                          <a:latin typeface="+mn-lt"/>
                        </a:rPr>
                        <a:t>Iter 4</a:t>
                      </a:r>
                    </a:p>
                  </a:txBody>
                  <a:tcPr marL="109728" marR="109728" anchor="ctr">
                    <a:solidFill>
                      <a:srgbClr val="F4F6FC"/>
                    </a:solidFill>
                  </a:tcPr>
                </a:tc>
                <a:extLst>
                  <a:ext uri="{0D108BD9-81ED-4DB2-BD59-A6C34878D82A}">
                    <a16:rowId xmlns:a16="http://schemas.microsoft.com/office/drawing/2014/main" val="2270326929"/>
                  </a:ext>
                </a:extLst>
              </a:tr>
              <a:tr h="340360">
                <a:tc>
                  <a:txBody>
                    <a:bodyPr/>
                    <a:lstStyle/>
                    <a:p>
                      <a:pPr algn="l"/>
                      <a:r>
                        <a:rPr sz="1300" dirty="0">
                          <a:solidFill>
                            <a:srgbClr val="1F2340"/>
                          </a:solidFill>
                          <a:latin typeface="Calibri"/>
                        </a:rPr>
                        <a:t>PT08.S1 (CO)</a:t>
                      </a:r>
                    </a:p>
                  </a:txBody>
                  <a:tcPr marL="109728" marR="109728" anchor="ctr">
                    <a:solidFill>
                      <a:srgbClr val="F4F6FC"/>
                    </a:solidFill>
                  </a:tcPr>
                </a:tc>
                <a:tc>
                  <a:txBody>
                    <a:bodyPr/>
                    <a:lstStyle/>
                    <a:p>
                      <a:pPr algn="ctr"/>
                      <a:r>
                        <a:rPr sz="1300" dirty="0">
                          <a:solidFill>
                            <a:srgbClr val="1F2340"/>
                          </a:solidFill>
                          <a:latin typeface="Calibri"/>
                        </a:rPr>
                        <a:t>15.56</a:t>
                      </a:r>
                    </a:p>
                  </a:txBody>
                  <a:tcPr marL="109728" marR="109728" anchor="ctr">
                    <a:solidFill>
                      <a:srgbClr val="F4F6FC"/>
                    </a:solidFill>
                  </a:tcPr>
                </a:tc>
                <a:tc>
                  <a:txBody>
                    <a:bodyPr/>
                    <a:lstStyle/>
                    <a:p>
                      <a:pPr algn="ctr"/>
                      <a:r>
                        <a:rPr lang="en-IN" sz="1300" dirty="0">
                          <a:solidFill>
                            <a:srgbClr val="1F2340"/>
                          </a:solidFill>
                          <a:latin typeface="Calibri"/>
                        </a:rPr>
                        <a:t>14.25</a:t>
                      </a:r>
                      <a:endParaRPr sz="1300"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8.17</a:t>
                      </a:r>
                      <a:endParaRPr sz="1300"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3.22</a:t>
                      </a:r>
                      <a:endParaRPr sz="1300" dirty="0">
                        <a:solidFill>
                          <a:srgbClr val="1F2340"/>
                        </a:solidFill>
                        <a:latin typeface="Calibri"/>
                      </a:endParaRPr>
                    </a:p>
                  </a:txBody>
                  <a:tcPr marL="109728" marR="109728" anchor="ctr">
                    <a:solidFill>
                      <a:srgbClr val="F4F6FC"/>
                    </a:solidFill>
                  </a:tcPr>
                </a:tc>
                <a:extLst>
                  <a:ext uri="{0D108BD9-81ED-4DB2-BD59-A6C34878D82A}">
                    <a16:rowId xmlns:a16="http://schemas.microsoft.com/office/drawing/2014/main" val="10002"/>
                  </a:ext>
                </a:extLst>
              </a:tr>
              <a:tr h="340360">
                <a:tc>
                  <a:txBody>
                    <a:bodyPr/>
                    <a:lstStyle/>
                    <a:p>
                      <a:pPr algn="l"/>
                      <a:r>
                        <a:rPr sz="1300">
                          <a:solidFill>
                            <a:srgbClr val="1F2340"/>
                          </a:solidFill>
                          <a:latin typeface="Calibri"/>
                        </a:rPr>
                        <a:t>PT08.S2 (NMHC)</a:t>
                      </a:r>
                    </a:p>
                  </a:txBody>
                  <a:tcPr marL="109728" marR="109728" anchor="ctr">
                    <a:solidFill>
                      <a:srgbClr val="FFFFFF"/>
                    </a:solidFill>
                  </a:tcPr>
                </a:tc>
                <a:tc>
                  <a:txBody>
                    <a:bodyPr/>
                    <a:lstStyle/>
                    <a:p>
                      <a:pPr algn="ctr"/>
                      <a:r>
                        <a:rPr sz="1300" b="1" dirty="0">
                          <a:solidFill>
                            <a:srgbClr val="1F2340"/>
                          </a:solidFill>
                          <a:latin typeface="Calibri"/>
                        </a:rPr>
                        <a:t>73.49</a:t>
                      </a:r>
                    </a:p>
                  </a:txBody>
                  <a:tcPr marL="109728" marR="109728" anchor="ctr">
                    <a:solidFill>
                      <a:srgbClr val="FFFFFF"/>
                    </a:solidFill>
                  </a:tcPr>
                </a:tc>
                <a:tc>
                  <a:txBody>
                    <a:bodyPr/>
                    <a:lstStyle/>
                    <a:p>
                      <a:pPr algn="ctr"/>
                      <a:r>
                        <a:rPr lang="en-IN" sz="1300" dirty="0">
                          <a:solidFill>
                            <a:srgbClr val="1F2340"/>
                          </a:solidFill>
                          <a:latin typeface="Calibri"/>
                        </a:rPr>
                        <a:t>-</a:t>
                      </a:r>
                      <a:endParaRPr sz="1300" dirty="0">
                        <a:solidFill>
                          <a:srgbClr val="1F2340"/>
                        </a:solidFill>
                        <a:latin typeface="Calibri"/>
                      </a:endParaRPr>
                    </a:p>
                  </a:txBody>
                  <a:tcPr marL="109728" marR="109728" anchor="ctr">
                    <a:solidFill>
                      <a:srgbClr val="FFFFFF"/>
                    </a:solidFill>
                  </a:tcPr>
                </a:tc>
                <a:tc>
                  <a:txBody>
                    <a:bodyPr/>
                    <a:lstStyle/>
                    <a:p>
                      <a:pPr algn="ctr"/>
                      <a:r>
                        <a:rPr lang="en-IN" sz="1300" dirty="0">
                          <a:solidFill>
                            <a:srgbClr val="1F2340"/>
                          </a:solidFill>
                          <a:latin typeface="Calibri"/>
                        </a:rPr>
                        <a:t>-</a:t>
                      </a:r>
                      <a:endParaRPr sz="1300" dirty="0">
                        <a:solidFill>
                          <a:srgbClr val="1F2340"/>
                        </a:solidFill>
                        <a:latin typeface="Calibri"/>
                      </a:endParaRPr>
                    </a:p>
                  </a:txBody>
                  <a:tcPr marL="109728" marR="109728" anchor="ctr">
                    <a:solidFill>
                      <a:srgbClr val="FFFFFF"/>
                    </a:solidFill>
                  </a:tcPr>
                </a:tc>
                <a:tc>
                  <a:txBody>
                    <a:bodyPr/>
                    <a:lstStyle/>
                    <a:p>
                      <a:pPr algn="ctr"/>
                      <a:r>
                        <a:rPr lang="en-IN" sz="1300" dirty="0">
                          <a:solidFill>
                            <a:srgbClr val="1F2340"/>
                          </a:solidFill>
                          <a:latin typeface="Calibri"/>
                        </a:rPr>
                        <a:t>-</a:t>
                      </a:r>
                      <a:endParaRPr sz="1300" dirty="0">
                        <a:solidFill>
                          <a:srgbClr val="1F2340"/>
                        </a:solidFill>
                        <a:latin typeface="Calibri"/>
                      </a:endParaRPr>
                    </a:p>
                  </a:txBody>
                  <a:tcPr marL="109728" marR="109728" anchor="ctr">
                    <a:solidFill>
                      <a:srgbClr val="FFFFFF"/>
                    </a:solidFill>
                  </a:tcPr>
                </a:tc>
                <a:extLst>
                  <a:ext uri="{0D108BD9-81ED-4DB2-BD59-A6C34878D82A}">
                    <a16:rowId xmlns:a16="http://schemas.microsoft.com/office/drawing/2014/main" val="10003"/>
                  </a:ext>
                </a:extLst>
              </a:tr>
              <a:tr h="340360">
                <a:tc>
                  <a:txBody>
                    <a:bodyPr/>
                    <a:lstStyle/>
                    <a:p>
                      <a:pPr algn="l"/>
                      <a:r>
                        <a:rPr sz="1300">
                          <a:solidFill>
                            <a:srgbClr val="1F2340"/>
                          </a:solidFill>
                          <a:latin typeface="Calibri"/>
                        </a:rPr>
                        <a:t>PT08.S3 (NOx)</a:t>
                      </a:r>
                    </a:p>
                  </a:txBody>
                  <a:tcPr marL="109728" marR="109728" anchor="ctr">
                    <a:solidFill>
                      <a:srgbClr val="F4F6FC"/>
                    </a:solidFill>
                  </a:tcPr>
                </a:tc>
                <a:tc>
                  <a:txBody>
                    <a:bodyPr/>
                    <a:lstStyle/>
                    <a:p>
                      <a:pPr algn="ctr"/>
                      <a:r>
                        <a:rPr sz="1300">
                          <a:solidFill>
                            <a:srgbClr val="1F2340"/>
                          </a:solidFill>
                          <a:latin typeface="Calibri"/>
                        </a:rPr>
                        <a:t>10.34</a:t>
                      </a:r>
                    </a:p>
                  </a:txBody>
                  <a:tcPr marL="109728" marR="109728" anchor="ctr">
                    <a:solidFill>
                      <a:srgbClr val="F4F6FC"/>
                    </a:solidFill>
                  </a:tcPr>
                </a:tc>
                <a:tc>
                  <a:txBody>
                    <a:bodyPr/>
                    <a:lstStyle/>
                    <a:p>
                      <a:pPr algn="ctr"/>
                      <a:r>
                        <a:rPr lang="en-IN" sz="1300" dirty="0">
                          <a:solidFill>
                            <a:srgbClr val="1F2340"/>
                          </a:solidFill>
                          <a:latin typeface="Calibri"/>
                        </a:rPr>
                        <a:t>5.37</a:t>
                      </a:r>
                      <a:endParaRPr sz="1300"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4.44</a:t>
                      </a:r>
                      <a:endParaRPr sz="1300"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3.74</a:t>
                      </a:r>
                      <a:endParaRPr sz="1300" dirty="0">
                        <a:solidFill>
                          <a:srgbClr val="1F2340"/>
                        </a:solidFill>
                        <a:latin typeface="Calibri"/>
                      </a:endParaRPr>
                    </a:p>
                  </a:txBody>
                  <a:tcPr marL="109728" marR="109728" anchor="ctr">
                    <a:solidFill>
                      <a:srgbClr val="F4F6FC"/>
                    </a:solidFill>
                  </a:tcPr>
                </a:tc>
                <a:extLst>
                  <a:ext uri="{0D108BD9-81ED-4DB2-BD59-A6C34878D82A}">
                    <a16:rowId xmlns:a16="http://schemas.microsoft.com/office/drawing/2014/main" val="10004"/>
                  </a:ext>
                </a:extLst>
              </a:tr>
              <a:tr h="340360">
                <a:tc>
                  <a:txBody>
                    <a:bodyPr/>
                    <a:lstStyle/>
                    <a:p>
                      <a:pPr algn="l"/>
                      <a:r>
                        <a:rPr sz="1300">
                          <a:solidFill>
                            <a:srgbClr val="1F2340"/>
                          </a:solidFill>
                          <a:latin typeface="Calibri"/>
                        </a:rPr>
                        <a:t>PT08.S4 (NO2)</a:t>
                      </a:r>
                    </a:p>
                  </a:txBody>
                  <a:tcPr marL="109728" marR="109728" anchor="ctr">
                    <a:solidFill>
                      <a:srgbClr val="FFFFFF"/>
                    </a:solidFill>
                  </a:tcPr>
                </a:tc>
                <a:tc>
                  <a:txBody>
                    <a:bodyPr/>
                    <a:lstStyle/>
                    <a:p>
                      <a:pPr algn="ctr"/>
                      <a:r>
                        <a:rPr sz="1300">
                          <a:solidFill>
                            <a:srgbClr val="1F2340"/>
                          </a:solidFill>
                          <a:latin typeface="Calibri"/>
                        </a:rPr>
                        <a:t>49.26</a:t>
                      </a:r>
                    </a:p>
                  </a:txBody>
                  <a:tcPr marL="109728" marR="109728" anchor="ctr">
                    <a:solidFill>
                      <a:srgbClr val="FFFFFF"/>
                    </a:solidFill>
                  </a:tcPr>
                </a:tc>
                <a:tc>
                  <a:txBody>
                    <a:bodyPr/>
                    <a:lstStyle/>
                    <a:p>
                      <a:pPr algn="ctr"/>
                      <a:r>
                        <a:rPr lang="en-IN" sz="1300" b="1" dirty="0">
                          <a:solidFill>
                            <a:srgbClr val="1F2340"/>
                          </a:solidFill>
                          <a:latin typeface="Calibri"/>
                        </a:rPr>
                        <a:t>15.18</a:t>
                      </a:r>
                      <a:endParaRPr sz="1300" b="1" dirty="0">
                        <a:solidFill>
                          <a:srgbClr val="1F2340"/>
                        </a:solidFill>
                        <a:latin typeface="Calibri"/>
                      </a:endParaRPr>
                    </a:p>
                  </a:txBody>
                  <a:tcPr marL="109728" marR="109728" anchor="ctr">
                    <a:solidFill>
                      <a:srgbClr val="FFFFFF"/>
                    </a:solidFill>
                  </a:tcPr>
                </a:tc>
                <a:tc>
                  <a:txBody>
                    <a:bodyPr/>
                    <a:lstStyle/>
                    <a:p>
                      <a:pPr algn="ctr"/>
                      <a:r>
                        <a:rPr lang="en-IN" sz="1300" dirty="0">
                          <a:solidFill>
                            <a:srgbClr val="1F2340"/>
                          </a:solidFill>
                          <a:latin typeface="Calibri"/>
                        </a:rPr>
                        <a:t>-</a:t>
                      </a:r>
                      <a:endParaRPr sz="1300" dirty="0">
                        <a:solidFill>
                          <a:srgbClr val="1F2340"/>
                        </a:solidFill>
                        <a:latin typeface="Calibri"/>
                      </a:endParaRPr>
                    </a:p>
                  </a:txBody>
                  <a:tcPr marL="109728" marR="109728" anchor="ctr">
                    <a:solidFill>
                      <a:srgbClr val="FFFFFF"/>
                    </a:solidFill>
                  </a:tcPr>
                </a:tc>
                <a:tc>
                  <a:txBody>
                    <a:bodyPr/>
                    <a:lstStyle/>
                    <a:p>
                      <a:pPr algn="ctr"/>
                      <a:r>
                        <a:rPr lang="en-IN" sz="1300" dirty="0">
                          <a:solidFill>
                            <a:srgbClr val="1F2340"/>
                          </a:solidFill>
                          <a:latin typeface="Calibri"/>
                        </a:rPr>
                        <a:t>-</a:t>
                      </a:r>
                      <a:endParaRPr sz="1300" dirty="0">
                        <a:solidFill>
                          <a:srgbClr val="1F2340"/>
                        </a:solidFill>
                        <a:latin typeface="Calibri"/>
                      </a:endParaRPr>
                    </a:p>
                  </a:txBody>
                  <a:tcPr marL="109728" marR="109728" anchor="ctr">
                    <a:solidFill>
                      <a:srgbClr val="FFFFFF"/>
                    </a:solidFill>
                  </a:tcPr>
                </a:tc>
                <a:extLst>
                  <a:ext uri="{0D108BD9-81ED-4DB2-BD59-A6C34878D82A}">
                    <a16:rowId xmlns:a16="http://schemas.microsoft.com/office/drawing/2014/main" val="10005"/>
                  </a:ext>
                </a:extLst>
              </a:tr>
              <a:tr h="340360">
                <a:tc>
                  <a:txBody>
                    <a:bodyPr/>
                    <a:lstStyle/>
                    <a:p>
                      <a:pPr algn="l"/>
                      <a:r>
                        <a:rPr sz="1300">
                          <a:solidFill>
                            <a:srgbClr val="1F2340"/>
                          </a:solidFill>
                          <a:latin typeface="Calibri"/>
                        </a:rPr>
                        <a:t>PT08.S5 (O3)</a:t>
                      </a:r>
                    </a:p>
                  </a:txBody>
                  <a:tcPr marL="109728" marR="109728" anchor="ctr">
                    <a:solidFill>
                      <a:srgbClr val="F4F6FC"/>
                    </a:solidFill>
                  </a:tcPr>
                </a:tc>
                <a:tc>
                  <a:txBody>
                    <a:bodyPr/>
                    <a:lstStyle/>
                    <a:p>
                      <a:pPr algn="ctr"/>
                      <a:r>
                        <a:rPr sz="1300">
                          <a:solidFill>
                            <a:srgbClr val="1F2340"/>
                          </a:solidFill>
                          <a:latin typeface="Calibri"/>
                        </a:rPr>
                        <a:t>9.84</a:t>
                      </a:r>
                    </a:p>
                  </a:txBody>
                  <a:tcPr marL="109728" marR="109728" anchor="ctr">
                    <a:solidFill>
                      <a:srgbClr val="F4F6FC"/>
                    </a:solidFill>
                  </a:tcPr>
                </a:tc>
                <a:tc>
                  <a:txBody>
                    <a:bodyPr/>
                    <a:lstStyle/>
                    <a:p>
                      <a:pPr algn="ctr"/>
                      <a:r>
                        <a:rPr lang="en-IN" sz="1300" dirty="0">
                          <a:solidFill>
                            <a:srgbClr val="1F2340"/>
                          </a:solidFill>
                          <a:latin typeface="Calibri"/>
                        </a:rPr>
                        <a:t>9.84</a:t>
                      </a:r>
                      <a:endParaRPr sz="1300" dirty="0">
                        <a:solidFill>
                          <a:srgbClr val="1F2340"/>
                        </a:solidFill>
                        <a:latin typeface="Calibri"/>
                      </a:endParaRPr>
                    </a:p>
                  </a:txBody>
                  <a:tcPr marL="109728" marR="109728" anchor="ctr">
                    <a:solidFill>
                      <a:srgbClr val="F4F6FC"/>
                    </a:solidFill>
                  </a:tcPr>
                </a:tc>
                <a:tc>
                  <a:txBody>
                    <a:bodyPr/>
                    <a:lstStyle/>
                    <a:p>
                      <a:pPr algn="ctr"/>
                      <a:r>
                        <a:rPr lang="en-IN" sz="1300" b="1" dirty="0">
                          <a:solidFill>
                            <a:srgbClr val="1F2340"/>
                          </a:solidFill>
                          <a:latin typeface="Calibri"/>
                        </a:rPr>
                        <a:t>9.78</a:t>
                      </a:r>
                      <a:endParaRPr sz="1300" b="1"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a:t>
                      </a:r>
                      <a:endParaRPr sz="1300" dirty="0">
                        <a:solidFill>
                          <a:srgbClr val="1F2340"/>
                        </a:solidFill>
                        <a:latin typeface="Calibri"/>
                      </a:endParaRPr>
                    </a:p>
                  </a:txBody>
                  <a:tcPr marL="109728" marR="109728" anchor="ctr">
                    <a:solidFill>
                      <a:srgbClr val="F4F6FC"/>
                    </a:solidFill>
                  </a:tcPr>
                </a:tc>
                <a:extLst>
                  <a:ext uri="{0D108BD9-81ED-4DB2-BD59-A6C34878D82A}">
                    <a16:rowId xmlns:a16="http://schemas.microsoft.com/office/drawing/2014/main" val="10006"/>
                  </a:ext>
                </a:extLst>
              </a:tr>
              <a:tr h="340360">
                <a:tc>
                  <a:txBody>
                    <a:bodyPr/>
                    <a:lstStyle/>
                    <a:p>
                      <a:pPr algn="l"/>
                      <a:r>
                        <a:rPr sz="1300">
                          <a:solidFill>
                            <a:srgbClr val="1F2340"/>
                          </a:solidFill>
                          <a:latin typeface="Calibri"/>
                        </a:rPr>
                        <a:t>T</a:t>
                      </a:r>
                    </a:p>
                  </a:txBody>
                  <a:tcPr marL="109728" marR="109728" anchor="ctr">
                    <a:solidFill>
                      <a:srgbClr val="FFFFFF"/>
                    </a:solidFill>
                  </a:tcPr>
                </a:tc>
                <a:tc>
                  <a:txBody>
                    <a:bodyPr/>
                    <a:lstStyle/>
                    <a:p>
                      <a:pPr algn="ctr"/>
                      <a:r>
                        <a:rPr sz="1300">
                          <a:solidFill>
                            <a:srgbClr val="1F2340"/>
                          </a:solidFill>
                          <a:latin typeface="Calibri"/>
                        </a:rPr>
                        <a:t>1.86</a:t>
                      </a:r>
                    </a:p>
                  </a:txBody>
                  <a:tcPr marL="109728" marR="109728" anchor="ctr">
                    <a:solidFill>
                      <a:srgbClr val="FFFFFF"/>
                    </a:solidFill>
                  </a:tcPr>
                </a:tc>
                <a:tc>
                  <a:txBody>
                    <a:bodyPr/>
                    <a:lstStyle/>
                    <a:p>
                      <a:pPr algn="ctr"/>
                      <a:r>
                        <a:rPr lang="en-IN" sz="1300" dirty="0">
                          <a:solidFill>
                            <a:srgbClr val="1F2340"/>
                          </a:solidFill>
                          <a:latin typeface="Calibri"/>
                        </a:rPr>
                        <a:t>1.24</a:t>
                      </a:r>
                      <a:endParaRPr sz="1300" dirty="0">
                        <a:solidFill>
                          <a:srgbClr val="1F2340"/>
                        </a:solidFill>
                        <a:latin typeface="Calibri"/>
                      </a:endParaRPr>
                    </a:p>
                  </a:txBody>
                  <a:tcPr marL="109728" marR="109728" anchor="ctr">
                    <a:solidFill>
                      <a:srgbClr val="FFFFFF"/>
                    </a:solidFill>
                  </a:tcPr>
                </a:tc>
                <a:tc>
                  <a:txBody>
                    <a:bodyPr/>
                    <a:lstStyle/>
                    <a:p>
                      <a:pPr algn="ctr"/>
                      <a:r>
                        <a:rPr lang="en-IN" sz="1300" dirty="0">
                          <a:solidFill>
                            <a:srgbClr val="1F2340"/>
                          </a:solidFill>
                          <a:latin typeface="Calibri"/>
                        </a:rPr>
                        <a:t>1.24</a:t>
                      </a:r>
                      <a:endParaRPr sz="1300" dirty="0">
                        <a:solidFill>
                          <a:srgbClr val="1F2340"/>
                        </a:solidFill>
                        <a:latin typeface="Calibri"/>
                      </a:endParaRPr>
                    </a:p>
                  </a:txBody>
                  <a:tcPr marL="109728" marR="109728" anchor="ctr">
                    <a:solidFill>
                      <a:srgbClr val="FFFFFF"/>
                    </a:solidFill>
                  </a:tcPr>
                </a:tc>
                <a:tc>
                  <a:txBody>
                    <a:bodyPr/>
                    <a:lstStyle/>
                    <a:p>
                      <a:pPr algn="ctr"/>
                      <a:r>
                        <a:rPr lang="en-IN" sz="1300" dirty="0">
                          <a:solidFill>
                            <a:srgbClr val="1F2340"/>
                          </a:solidFill>
                          <a:latin typeface="Calibri"/>
                        </a:rPr>
                        <a:t>1.22</a:t>
                      </a:r>
                      <a:endParaRPr sz="1300" dirty="0">
                        <a:solidFill>
                          <a:srgbClr val="1F2340"/>
                        </a:solidFill>
                        <a:latin typeface="Calibri"/>
                      </a:endParaRPr>
                    </a:p>
                  </a:txBody>
                  <a:tcPr marL="109728" marR="109728" anchor="ctr">
                    <a:solidFill>
                      <a:srgbClr val="FFFFFF"/>
                    </a:solidFill>
                  </a:tcPr>
                </a:tc>
                <a:extLst>
                  <a:ext uri="{0D108BD9-81ED-4DB2-BD59-A6C34878D82A}">
                    <a16:rowId xmlns:a16="http://schemas.microsoft.com/office/drawing/2014/main" val="10007"/>
                  </a:ext>
                </a:extLst>
              </a:tr>
              <a:tr h="340360">
                <a:tc>
                  <a:txBody>
                    <a:bodyPr/>
                    <a:lstStyle/>
                    <a:p>
                      <a:pPr algn="l"/>
                      <a:r>
                        <a:rPr sz="1300" dirty="0">
                          <a:solidFill>
                            <a:srgbClr val="1F2340"/>
                          </a:solidFill>
                          <a:latin typeface="Calibri"/>
                        </a:rPr>
                        <a:t>AH</a:t>
                      </a:r>
                    </a:p>
                  </a:txBody>
                  <a:tcPr marL="109728" marR="109728" anchor="ctr">
                    <a:solidFill>
                      <a:srgbClr val="F4F6FC"/>
                    </a:solidFill>
                  </a:tcPr>
                </a:tc>
                <a:tc>
                  <a:txBody>
                    <a:bodyPr/>
                    <a:lstStyle/>
                    <a:p>
                      <a:pPr algn="ctr"/>
                      <a:r>
                        <a:rPr sz="1300" dirty="0">
                          <a:solidFill>
                            <a:srgbClr val="1F2340"/>
                          </a:solidFill>
                          <a:latin typeface="Calibri"/>
                        </a:rPr>
                        <a:t>4.92</a:t>
                      </a:r>
                    </a:p>
                  </a:txBody>
                  <a:tcPr marL="109728" marR="109728" anchor="ctr">
                    <a:solidFill>
                      <a:srgbClr val="F4F6FC"/>
                    </a:solidFill>
                  </a:tcPr>
                </a:tc>
                <a:tc>
                  <a:txBody>
                    <a:bodyPr/>
                    <a:lstStyle/>
                    <a:p>
                      <a:pPr algn="ctr"/>
                      <a:r>
                        <a:rPr lang="en-IN" sz="1300" dirty="0">
                          <a:solidFill>
                            <a:srgbClr val="1F2340"/>
                          </a:solidFill>
                          <a:latin typeface="Calibri"/>
                        </a:rPr>
                        <a:t>1.49</a:t>
                      </a:r>
                      <a:endParaRPr sz="1300"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1.29</a:t>
                      </a:r>
                      <a:endParaRPr sz="1300" dirty="0">
                        <a:solidFill>
                          <a:srgbClr val="1F2340"/>
                        </a:solidFill>
                        <a:latin typeface="Calibri"/>
                      </a:endParaRPr>
                    </a:p>
                  </a:txBody>
                  <a:tcPr marL="109728" marR="109728" anchor="ctr">
                    <a:solidFill>
                      <a:srgbClr val="F4F6FC"/>
                    </a:solidFill>
                  </a:tcPr>
                </a:tc>
                <a:tc>
                  <a:txBody>
                    <a:bodyPr/>
                    <a:lstStyle/>
                    <a:p>
                      <a:pPr algn="ctr"/>
                      <a:r>
                        <a:rPr lang="en-IN" sz="1300" dirty="0">
                          <a:solidFill>
                            <a:srgbClr val="1F2340"/>
                          </a:solidFill>
                          <a:latin typeface="Calibri"/>
                        </a:rPr>
                        <a:t>1.28</a:t>
                      </a:r>
                      <a:endParaRPr sz="1300" dirty="0">
                        <a:solidFill>
                          <a:srgbClr val="1F2340"/>
                        </a:solidFill>
                        <a:latin typeface="Calibri"/>
                      </a:endParaRPr>
                    </a:p>
                  </a:txBody>
                  <a:tcPr marL="109728" marR="109728" anchor="ctr">
                    <a:solidFill>
                      <a:srgbClr val="F4F6FC"/>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8" name="TextBox 7"/>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11</a:t>
            </a:r>
          </a:p>
        </p:txBody>
      </p:sp>
      <p:cxnSp>
        <p:nvCxnSpPr>
          <p:cNvPr id="9" name="Connector 8">
            <a:extLst>
              <a:ext uri="{FF2B5EF4-FFF2-40B4-BE49-F238E27FC236}">
                <a16:creationId xmlns:a16="http://schemas.microsoft.com/office/drawing/2014/main" id="{F53903B5-FAA6-5A8F-FED9-56C44E1176D2}"/>
              </a:ext>
            </a:extLst>
          </p:cNvPr>
          <p:cNvCxnSpPr>
            <a:cxnSpLocks/>
          </p:cNvCxnSpPr>
          <p:nvPr/>
        </p:nvCxnSpPr>
        <p:spPr>
          <a:xfrm>
            <a:off x="664339" y="1261498"/>
            <a:ext cx="7266681"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MODEL REFINEMENT</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600" b="1">
                <a:solidFill>
                  <a:srgbClr val="1E2761"/>
                </a:solidFill>
                <a:latin typeface="Cambria"/>
              </a:rPr>
              <a:t>Sophistication of Models: Correction &amp; Refinement</a:t>
            </a:r>
          </a:p>
        </p:txBody>
      </p:sp>
      <p:sp>
        <p:nvSpPr>
          <p:cNvPr id="5" name="Rounded Rectangle 4"/>
          <p:cNvSpPr/>
          <p:nvPr/>
        </p:nvSpPr>
        <p:spPr>
          <a:xfrm>
            <a:off x="548640" y="1783080"/>
            <a:ext cx="5394960" cy="420624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210312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41A45"/>
                </a:solidFill>
                <a:latin typeface="Cambria"/>
              </a:rPr>
              <a:t>1</a:t>
            </a:r>
          </a:p>
        </p:txBody>
      </p:sp>
      <p:sp>
        <p:nvSpPr>
          <p:cNvPr id="7" name="TextBox 6"/>
          <p:cNvSpPr txBox="1"/>
          <p:nvPr/>
        </p:nvSpPr>
        <p:spPr>
          <a:xfrm>
            <a:off x="1554480" y="2200468"/>
            <a:ext cx="4206240" cy="353943"/>
          </a:xfrm>
          <a:prstGeom prst="rect">
            <a:avLst/>
          </a:prstGeom>
          <a:noFill/>
        </p:spPr>
        <p:txBody>
          <a:bodyPr wrap="square" anchor="ctr">
            <a:spAutoFit/>
          </a:bodyPr>
          <a:lstStyle/>
          <a:p>
            <a:pPr algn="l"/>
            <a:r>
              <a:rPr sz="1700" b="1" dirty="0">
                <a:solidFill>
                  <a:srgbClr val="1E2761"/>
                </a:solidFill>
                <a:latin typeface="Cambria"/>
              </a:rPr>
              <a:t>Robust Standard Errors</a:t>
            </a:r>
          </a:p>
        </p:txBody>
      </p:sp>
      <p:sp>
        <p:nvSpPr>
          <p:cNvPr id="8" name="TextBox 7"/>
          <p:cNvSpPr txBox="1"/>
          <p:nvPr/>
        </p:nvSpPr>
        <p:spPr>
          <a:xfrm>
            <a:off x="868680" y="2880360"/>
            <a:ext cx="4754880" cy="1755545"/>
          </a:xfrm>
          <a:prstGeom prst="rect">
            <a:avLst/>
          </a:prstGeom>
          <a:noFill/>
        </p:spPr>
        <p:txBody>
          <a:bodyPr wrap="square">
            <a:spAutoFit/>
          </a:bodyPr>
          <a:lstStyle/>
          <a:p>
            <a:pPr algn="just">
              <a:lnSpc>
                <a:spcPct val="200000"/>
              </a:lnSpc>
            </a:pPr>
            <a:r>
              <a:rPr lang="en-US" sz="1400" dirty="0">
                <a:solidFill>
                  <a:srgbClr val="1F2340"/>
                </a:solidFill>
                <a:latin typeface="Calibri"/>
              </a:rPr>
              <a:t>After resolving multicollinearity, the model was re-fit utilizing Heteroskedasticity-Consistent robust standard errors to mathematically correct the biased p-values flagged during the visual scatter plot analysis</a:t>
            </a:r>
            <a:endParaRPr sz="1400" dirty="0">
              <a:solidFill>
                <a:srgbClr val="1F2340"/>
              </a:solidFill>
              <a:latin typeface="Calibri"/>
            </a:endParaRPr>
          </a:p>
        </p:txBody>
      </p:sp>
      <p:sp>
        <p:nvSpPr>
          <p:cNvPr id="9" name="Rounded Rectangle 8"/>
          <p:cNvSpPr/>
          <p:nvPr/>
        </p:nvSpPr>
        <p:spPr>
          <a:xfrm>
            <a:off x="6217920" y="1783080"/>
            <a:ext cx="5394960" cy="420624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537960" y="210312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41A45"/>
                </a:solidFill>
                <a:latin typeface="Cambria"/>
              </a:rPr>
              <a:t>2</a:t>
            </a:r>
          </a:p>
        </p:txBody>
      </p:sp>
      <p:sp>
        <p:nvSpPr>
          <p:cNvPr id="11" name="TextBox 10"/>
          <p:cNvSpPr txBox="1"/>
          <p:nvPr/>
        </p:nvSpPr>
        <p:spPr>
          <a:xfrm>
            <a:off x="7223760" y="2200468"/>
            <a:ext cx="4206240" cy="353943"/>
          </a:xfrm>
          <a:prstGeom prst="rect">
            <a:avLst/>
          </a:prstGeom>
          <a:noFill/>
        </p:spPr>
        <p:txBody>
          <a:bodyPr wrap="square" anchor="ctr">
            <a:spAutoFit/>
          </a:bodyPr>
          <a:lstStyle/>
          <a:p>
            <a:pPr algn="l"/>
            <a:r>
              <a:rPr sz="1700" b="1" dirty="0">
                <a:solidFill>
                  <a:srgbClr val="FFFFFF"/>
                </a:solidFill>
                <a:latin typeface="Cambria"/>
              </a:rPr>
              <a:t>Feature Retention</a:t>
            </a:r>
          </a:p>
        </p:txBody>
      </p:sp>
      <p:sp>
        <p:nvSpPr>
          <p:cNvPr id="12" name="TextBox 11"/>
          <p:cNvSpPr txBox="1"/>
          <p:nvPr/>
        </p:nvSpPr>
        <p:spPr>
          <a:xfrm>
            <a:off x="6537960" y="2880360"/>
            <a:ext cx="4754880" cy="2186432"/>
          </a:xfrm>
          <a:prstGeom prst="rect">
            <a:avLst/>
          </a:prstGeom>
          <a:noFill/>
        </p:spPr>
        <p:txBody>
          <a:bodyPr wrap="square">
            <a:spAutoFit/>
          </a:bodyPr>
          <a:lstStyle/>
          <a:p>
            <a:pPr algn="just">
              <a:lnSpc>
                <a:spcPct val="200000"/>
              </a:lnSpc>
            </a:pPr>
            <a:r>
              <a:rPr lang="en-IN" sz="1400" dirty="0">
                <a:solidFill>
                  <a:srgbClr val="CADCFC"/>
                </a:solidFill>
                <a:latin typeface="Calibri"/>
              </a:rPr>
              <a:t>B</a:t>
            </a:r>
            <a:r>
              <a:rPr sz="1400" dirty="0" err="1">
                <a:solidFill>
                  <a:srgbClr val="CADCFC"/>
                </a:solidFill>
                <a:latin typeface="Calibri"/>
              </a:rPr>
              <a:t>ackward</a:t>
            </a:r>
            <a:r>
              <a:rPr sz="1400" dirty="0">
                <a:solidFill>
                  <a:srgbClr val="CADCFC"/>
                </a:solidFill>
                <a:latin typeface="Calibri"/>
              </a:rPr>
              <a:t> elimination based on the new robust p-values was applied. All remaining predictors—CO, NOx, Temperature, and Absolute Humidity—maintained strict statistical significance (p &lt; 0.05), indicating a structurally sound feature set. No further variables were dropped.</a:t>
            </a:r>
          </a:p>
        </p:txBody>
      </p:sp>
      <p:sp>
        <p:nvSpPr>
          <p:cNvPr id="13" name="TextBox 12"/>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4" name="TextBox 13"/>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12</a:t>
            </a:r>
          </a:p>
        </p:txBody>
      </p:sp>
      <p:cxnSp>
        <p:nvCxnSpPr>
          <p:cNvPr id="15" name="Connector 8">
            <a:extLst>
              <a:ext uri="{FF2B5EF4-FFF2-40B4-BE49-F238E27FC236}">
                <a16:creationId xmlns:a16="http://schemas.microsoft.com/office/drawing/2014/main" id="{4AA105B8-F389-C5C3-3951-78B462A8B932}"/>
              </a:ext>
            </a:extLst>
          </p:cNvPr>
          <p:cNvCxnSpPr>
            <a:cxnSpLocks/>
          </p:cNvCxnSpPr>
          <p:nvPr/>
        </p:nvCxnSpPr>
        <p:spPr>
          <a:xfrm>
            <a:off x="664339" y="1261498"/>
            <a:ext cx="7537269"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FINAL MODEL</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Final Refined OLS Model Results</a:t>
            </a:r>
          </a:p>
        </p:txBody>
      </p:sp>
      <p:sp>
        <p:nvSpPr>
          <p:cNvPr id="5" name="Rounded Rectangle 4"/>
          <p:cNvSpPr/>
          <p:nvPr/>
        </p:nvSpPr>
        <p:spPr>
          <a:xfrm>
            <a:off x="548640" y="1508760"/>
            <a:ext cx="3200400" cy="77724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08760"/>
            <a:ext cx="3200400" cy="777240"/>
          </a:xfrm>
          <a:prstGeom prst="rect">
            <a:avLst/>
          </a:prstGeom>
          <a:noFill/>
        </p:spPr>
        <p:txBody>
          <a:bodyPr wrap="none" anchor="ctr">
            <a:spAutoFit/>
          </a:bodyPr>
          <a:lstStyle/>
          <a:p>
            <a:pPr algn="ctr"/>
            <a:r>
              <a:rPr sz="1700" b="1">
                <a:solidFill>
                  <a:srgbClr val="1E2761"/>
                </a:solidFill>
                <a:latin typeface="Cambria"/>
              </a:rPr>
              <a:t>Adj. R² = 0.825</a:t>
            </a:r>
          </a:p>
        </p:txBody>
      </p:sp>
      <p:sp>
        <p:nvSpPr>
          <p:cNvPr id="7" name="TextBox 6"/>
          <p:cNvSpPr txBox="1"/>
          <p:nvPr/>
        </p:nvSpPr>
        <p:spPr>
          <a:xfrm>
            <a:off x="3931920" y="1371600"/>
            <a:ext cx="7680960" cy="779316"/>
          </a:xfrm>
          <a:prstGeom prst="rect">
            <a:avLst/>
          </a:prstGeom>
          <a:noFill/>
        </p:spPr>
        <p:txBody>
          <a:bodyPr wrap="square">
            <a:spAutoFit/>
          </a:bodyPr>
          <a:lstStyle/>
          <a:p>
            <a:pPr algn="just">
              <a:lnSpc>
                <a:spcPct val="200000"/>
              </a:lnSpc>
              <a:spcAft>
                <a:spcPts val="0"/>
              </a:spcAft>
            </a:pPr>
            <a:r>
              <a:rPr sz="1200" dirty="0">
                <a:solidFill>
                  <a:srgbClr val="1F2340"/>
                </a:solidFill>
                <a:latin typeface="Calibri"/>
              </a:rPr>
              <a:t>This represents a statistically valid equation, having intentionally traded artificial R-squared inflation for structural integrity. Every remaining variable is strictly significant, with robust p-values hitting 0.000 across the board.</a:t>
            </a:r>
          </a:p>
        </p:txBody>
      </p:sp>
      <mc:AlternateContent xmlns:mc="http://schemas.openxmlformats.org/markup-compatibility/2006" xmlns:a14="http://schemas.microsoft.com/office/drawing/2010/main">
        <mc:Choice Requires="a14">
          <p:sp>
            <p:nvSpPr>
              <p:cNvPr id="8" name="Rounded Rectangle 7"/>
              <p:cNvSpPr/>
              <p:nvPr/>
            </p:nvSpPr>
            <p:spPr>
              <a:xfrm>
                <a:off x="548640" y="2468880"/>
                <a:ext cx="5806440" cy="777240"/>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14:m>
                  <m:oMathPara xmlns:m="http://schemas.openxmlformats.org/officeDocument/2006/math">
                    <m:oMath>
                      <m:r>
                        <m:rPr>
                          <m:sty m:val="p"/>
                        </m:rPr>
                        <a:rPr lang="en-IN" sz="1250" b="0" i="0" dirty="0" smtClean="0">
                          <a:solidFill>
                            <a:srgbClr val="FFFFFF"/>
                          </a:solidFill>
                          <a:latin typeface="Cambria Math" panose="02040503050406030204" pitchFamily="18" charset="0"/>
                        </a:rPr>
                        <m:t>Y</m:t>
                      </m:r>
                      <m:r>
                        <a:rPr lang="en-IN" sz="1250" i="0" dirty="0">
                          <a:solidFill>
                            <a:srgbClr val="FFFFFF"/>
                          </a:solidFill>
                          <a:latin typeface="Cambria Math" panose="02040503050406030204" pitchFamily="18" charset="0"/>
                        </a:rPr>
                        <m:t>=</m:t>
                      </m:r>
                      <m:r>
                        <a:rPr lang="en-IN" sz="1250" b="0" i="1" dirty="0" smtClean="0">
                          <a:solidFill>
                            <a:srgbClr val="FFFFFF"/>
                          </a:solidFill>
                          <a:latin typeface="Cambria Math" panose="02040503050406030204" pitchFamily="18" charset="0"/>
                        </a:rPr>
                        <m:t>−2.737</m:t>
                      </m:r>
                      <m:r>
                        <a:rPr lang="en-IN" sz="1250" b="0" i="1" dirty="0" smtClean="0">
                          <a:solidFill>
                            <a:srgbClr val="FFFFFF"/>
                          </a:solidFill>
                          <a:latin typeface="Cambria Math" panose="02040503050406030204" pitchFamily="18" charset="0"/>
                        </a:rPr>
                        <m:t>𝑒</m:t>
                      </m:r>
                      <m:r>
                        <a:rPr lang="en-IN" sz="1250" b="0" i="1" dirty="0" smtClean="0">
                          <a:solidFill>
                            <a:srgbClr val="FFFFFF"/>
                          </a:solidFill>
                          <a:latin typeface="Cambria Math" panose="02040503050406030204" pitchFamily="18" charset="0"/>
                        </a:rPr>
                        <m:t>−16+0.6643</m:t>
                      </m:r>
                      <m:d>
                        <m:dPr>
                          <m:ctrlPr>
                            <a:rPr lang="en-IN" sz="1250" b="0" i="1" dirty="0" smtClean="0">
                              <a:solidFill>
                                <a:srgbClr val="FFFFFF"/>
                              </a:solidFill>
                              <a:latin typeface="Cambria Math" panose="02040503050406030204" pitchFamily="18" charset="0"/>
                            </a:rPr>
                          </m:ctrlPr>
                        </m:dPr>
                        <m:e>
                          <m:r>
                            <a:rPr lang="en-IN" sz="1250" b="0" i="1" dirty="0" smtClean="0">
                              <a:solidFill>
                                <a:srgbClr val="FFFFFF"/>
                              </a:solidFill>
                              <a:latin typeface="Cambria Math" panose="02040503050406030204" pitchFamily="18" charset="0"/>
                            </a:rPr>
                            <m:t>𝐶𝑂</m:t>
                          </m:r>
                        </m:e>
                      </m:d>
                      <m:r>
                        <a:rPr lang="en-IN" sz="1250" b="0" i="1" dirty="0" smtClean="0">
                          <a:solidFill>
                            <a:srgbClr val="FFFFFF"/>
                          </a:solidFill>
                          <a:latin typeface="Cambria Math" panose="02040503050406030204" pitchFamily="18" charset="0"/>
                        </a:rPr>
                        <m:t>−0.3188</m:t>
                      </m:r>
                      <m:d>
                        <m:dPr>
                          <m:ctrlPr>
                            <a:rPr lang="en-IN" sz="1250" b="0" i="1" dirty="0" smtClean="0">
                              <a:solidFill>
                                <a:srgbClr val="FFFFFF"/>
                              </a:solidFill>
                              <a:latin typeface="Cambria Math" panose="02040503050406030204" pitchFamily="18" charset="0"/>
                            </a:rPr>
                          </m:ctrlPr>
                        </m:dPr>
                        <m:e>
                          <m:r>
                            <a:rPr lang="en-IN" sz="1250" b="0" i="1" dirty="0" smtClean="0">
                              <a:solidFill>
                                <a:srgbClr val="FFFFFF"/>
                              </a:solidFill>
                              <a:latin typeface="Cambria Math" panose="02040503050406030204" pitchFamily="18" charset="0"/>
                            </a:rPr>
                            <m:t>𝑁𝑂𝑥</m:t>
                          </m:r>
                        </m:e>
                      </m:d>
                      <m:r>
                        <a:rPr lang="en-IN" sz="1250" b="0" i="1" dirty="0" smtClean="0">
                          <a:solidFill>
                            <a:srgbClr val="FFFFFF"/>
                          </a:solidFill>
                          <a:latin typeface="Cambria Math" panose="02040503050406030204" pitchFamily="18" charset="0"/>
                        </a:rPr>
                        <m:t>+0.0909</m:t>
                      </m:r>
                      <m:d>
                        <m:dPr>
                          <m:ctrlPr>
                            <a:rPr lang="en-IN" sz="1250" b="0" i="1" dirty="0" smtClean="0">
                              <a:solidFill>
                                <a:srgbClr val="FFFFFF"/>
                              </a:solidFill>
                              <a:latin typeface="Cambria Math" panose="02040503050406030204" pitchFamily="18" charset="0"/>
                            </a:rPr>
                          </m:ctrlPr>
                        </m:dPr>
                        <m:e>
                          <m:r>
                            <a:rPr lang="en-IN" sz="1250" b="0" i="1" dirty="0" smtClean="0">
                              <a:solidFill>
                                <a:srgbClr val="FFFFFF"/>
                              </a:solidFill>
                              <a:latin typeface="Cambria Math" panose="02040503050406030204" pitchFamily="18" charset="0"/>
                            </a:rPr>
                            <m:t>𝑇</m:t>
                          </m:r>
                        </m:e>
                      </m:d>
                      <m:r>
                        <a:rPr lang="en-IN" sz="1250" b="0" i="1" dirty="0" smtClean="0">
                          <a:solidFill>
                            <a:srgbClr val="FFFFFF"/>
                          </a:solidFill>
                          <a:latin typeface="Cambria Math" panose="02040503050406030204" pitchFamily="18" charset="0"/>
                        </a:rPr>
                        <m:t>−0.2176(</m:t>
                      </m:r>
                      <m:r>
                        <a:rPr lang="en-IN" sz="1250" b="0" i="1" dirty="0" smtClean="0">
                          <a:solidFill>
                            <a:srgbClr val="FFFFFF"/>
                          </a:solidFill>
                          <a:latin typeface="Cambria Math" panose="02040503050406030204" pitchFamily="18" charset="0"/>
                        </a:rPr>
                        <m:t>𝐴𝐻</m:t>
                      </m:r>
                      <m:r>
                        <a:rPr lang="en-IN" sz="1250" b="0" i="1" dirty="0" smtClean="0">
                          <a:solidFill>
                            <a:srgbClr val="FFFFFF"/>
                          </a:solidFill>
                          <a:latin typeface="Cambria Math" panose="02040503050406030204" pitchFamily="18" charset="0"/>
                        </a:rPr>
                        <m:t>)</m:t>
                      </m:r>
                    </m:oMath>
                  </m:oMathPara>
                </a14:m>
                <a:endParaRPr lang="en-IN" sz="1250" dirty="0">
                  <a:solidFill>
                    <a:srgbClr val="FFFFFF"/>
                  </a:solidFill>
                  <a:latin typeface="Consolas"/>
                </a:endParaRPr>
              </a:p>
            </p:txBody>
          </p:sp>
        </mc:Choice>
        <mc:Fallback xmlns="">
          <p:sp>
            <p:nvSpPr>
              <p:cNvPr id="8" name="Rounded Rectangle 7"/>
              <p:cNvSpPr>
                <a:spLocks noRot="1" noChangeAspect="1" noMove="1" noResize="1" noEditPoints="1" noAdjustHandles="1" noChangeArrowheads="1" noChangeShapeType="1" noTextEdit="1"/>
              </p:cNvSpPr>
              <p:nvPr/>
            </p:nvSpPr>
            <p:spPr>
              <a:xfrm>
                <a:off x="548640" y="2468880"/>
                <a:ext cx="5806440" cy="777240"/>
              </a:xfrm>
              <a:prstGeom prst="roundRect">
                <a:avLst>
                  <a:gd name="adj" fmla="val 6000"/>
                </a:avLst>
              </a:prstGeom>
              <a:blipFill>
                <a:blip r:embed="rId2"/>
                <a:stretch>
                  <a:fillRect/>
                </a:stretch>
              </a:blipFill>
              <a:ln>
                <a:noFill/>
              </a:ln>
              <a:effectLst/>
            </p:spPr>
            <p:txBody>
              <a:bodyPr/>
              <a:lstStyle/>
              <a:p>
                <a:r>
                  <a:rPr lang="en-IN">
                    <a:noFill/>
                  </a:rPr>
                  <a:t> </a:t>
                </a:r>
              </a:p>
            </p:txBody>
          </p:sp>
        </mc:Fallback>
      </mc:AlternateContent>
      <p:graphicFrame>
        <p:nvGraphicFramePr>
          <p:cNvPr id="9" name="Table 8"/>
          <p:cNvGraphicFramePr>
            <a:graphicFrameLocks noGrp="1"/>
          </p:cNvGraphicFramePr>
          <p:nvPr>
            <p:extLst>
              <p:ext uri="{D42A27DB-BD31-4B8C-83A1-F6EECF244321}">
                <p14:modId xmlns:p14="http://schemas.microsoft.com/office/powerpoint/2010/main" val="2332560356"/>
              </p:ext>
            </p:extLst>
          </p:nvPr>
        </p:nvGraphicFramePr>
        <p:xfrm>
          <a:off x="548640" y="3429000"/>
          <a:ext cx="5806440" cy="2209800"/>
        </p:xfrm>
        <a:graphic>
          <a:graphicData uri="http://schemas.openxmlformats.org/drawingml/2006/table">
            <a:tbl>
              <a:tblPr firstRow="1" bandRow="1">
                <a:tableStyleId>{5C22544A-7EE6-4342-B048-85BDC9FD1C3A}</a:tableStyleId>
              </a:tblPr>
              <a:tblGrid>
                <a:gridCol w="3193542">
                  <a:extLst>
                    <a:ext uri="{9D8B030D-6E8A-4147-A177-3AD203B41FA5}">
                      <a16:colId xmlns:a16="http://schemas.microsoft.com/office/drawing/2014/main" val="20000"/>
                    </a:ext>
                  </a:extLst>
                </a:gridCol>
                <a:gridCol w="2612898">
                  <a:extLst>
                    <a:ext uri="{9D8B030D-6E8A-4147-A177-3AD203B41FA5}">
                      <a16:colId xmlns:a16="http://schemas.microsoft.com/office/drawing/2014/main" val="20001"/>
                    </a:ext>
                  </a:extLst>
                </a:gridCol>
              </a:tblGrid>
              <a:tr h="441960">
                <a:tc>
                  <a:txBody>
                    <a:bodyPr/>
                    <a:lstStyle/>
                    <a:p>
                      <a:pPr algn="l"/>
                      <a:r>
                        <a:rPr sz="1300" b="1">
                          <a:solidFill>
                            <a:srgbClr val="FFFFFF"/>
                          </a:solidFill>
                          <a:latin typeface="Calibri"/>
                        </a:rPr>
                        <a:t>Variable</a:t>
                      </a:r>
                    </a:p>
                  </a:txBody>
                  <a:tcPr marL="109728" marR="109728" anchor="ctr">
                    <a:solidFill>
                      <a:srgbClr val="1E2761"/>
                    </a:solidFill>
                  </a:tcPr>
                </a:tc>
                <a:tc>
                  <a:txBody>
                    <a:bodyPr/>
                    <a:lstStyle/>
                    <a:p>
                      <a:pPr algn="ctr"/>
                      <a:r>
                        <a:rPr sz="1300" b="1">
                          <a:solidFill>
                            <a:srgbClr val="FFFFFF"/>
                          </a:solidFill>
                          <a:latin typeface="Calibri"/>
                        </a:rPr>
                        <a:t>Coefficient</a:t>
                      </a:r>
                    </a:p>
                  </a:txBody>
                  <a:tcPr marL="109728" marR="109728" anchor="ctr">
                    <a:solidFill>
                      <a:srgbClr val="1E2761"/>
                    </a:solidFill>
                  </a:tcPr>
                </a:tc>
                <a:extLst>
                  <a:ext uri="{0D108BD9-81ED-4DB2-BD59-A6C34878D82A}">
                    <a16:rowId xmlns:a16="http://schemas.microsoft.com/office/drawing/2014/main" val="10000"/>
                  </a:ext>
                </a:extLst>
              </a:tr>
              <a:tr h="441960">
                <a:tc>
                  <a:txBody>
                    <a:bodyPr/>
                    <a:lstStyle/>
                    <a:p>
                      <a:pPr algn="l"/>
                      <a:r>
                        <a:rPr sz="1250">
                          <a:solidFill>
                            <a:srgbClr val="1F2340"/>
                          </a:solidFill>
                          <a:latin typeface="Calibri"/>
                        </a:rPr>
                        <a:t>PT08.S1 (CO)</a:t>
                      </a:r>
                    </a:p>
                  </a:txBody>
                  <a:tcPr marL="109728" marR="109728" anchor="ctr">
                    <a:solidFill>
                      <a:srgbClr val="F4F6FC"/>
                    </a:solidFill>
                  </a:tcPr>
                </a:tc>
                <a:tc>
                  <a:txBody>
                    <a:bodyPr/>
                    <a:lstStyle/>
                    <a:p>
                      <a:pPr algn="ctr"/>
                      <a:r>
                        <a:rPr sz="1250" dirty="0">
                          <a:solidFill>
                            <a:srgbClr val="1F2340"/>
                          </a:solidFill>
                          <a:latin typeface="Calibri"/>
                        </a:rPr>
                        <a:t>0.</a:t>
                      </a:r>
                      <a:r>
                        <a:rPr lang="en-IN" sz="1250" dirty="0">
                          <a:solidFill>
                            <a:srgbClr val="1F2340"/>
                          </a:solidFill>
                          <a:latin typeface="Calibri"/>
                        </a:rPr>
                        <a:t>6643</a:t>
                      </a:r>
                      <a:r>
                        <a:rPr sz="1250" dirty="0">
                          <a:solidFill>
                            <a:srgbClr val="1F2340"/>
                          </a:solidFill>
                          <a:latin typeface="Calibri"/>
                        </a:rPr>
                        <a:t> (p = 0.000)</a:t>
                      </a:r>
                    </a:p>
                  </a:txBody>
                  <a:tcPr marL="109728" marR="109728" anchor="ctr">
                    <a:solidFill>
                      <a:srgbClr val="F4F6FC"/>
                    </a:solidFill>
                  </a:tcPr>
                </a:tc>
                <a:extLst>
                  <a:ext uri="{0D108BD9-81ED-4DB2-BD59-A6C34878D82A}">
                    <a16:rowId xmlns:a16="http://schemas.microsoft.com/office/drawing/2014/main" val="10002"/>
                  </a:ext>
                </a:extLst>
              </a:tr>
              <a:tr h="441960">
                <a:tc>
                  <a:txBody>
                    <a:bodyPr/>
                    <a:lstStyle/>
                    <a:p>
                      <a:pPr algn="l"/>
                      <a:r>
                        <a:rPr sz="1250">
                          <a:solidFill>
                            <a:srgbClr val="1F2340"/>
                          </a:solidFill>
                          <a:latin typeface="Calibri"/>
                        </a:rPr>
                        <a:t>PT08.S3 (NOx)</a:t>
                      </a:r>
                    </a:p>
                  </a:txBody>
                  <a:tcPr marL="109728" marR="109728" anchor="ctr">
                    <a:solidFill>
                      <a:srgbClr val="FFFFFF"/>
                    </a:solidFill>
                  </a:tcPr>
                </a:tc>
                <a:tc>
                  <a:txBody>
                    <a:bodyPr/>
                    <a:lstStyle/>
                    <a:p>
                      <a:pPr algn="ctr"/>
                      <a:r>
                        <a:rPr sz="1250" dirty="0">
                          <a:solidFill>
                            <a:srgbClr val="1F2340"/>
                          </a:solidFill>
                          <a:latin typeface="Calibri"/>
                        </a:rPr>
                        <a:t>−0.</a:t>
                      </a:r>
                      <a:r>
                        <a:rPr lang="en-IN" sz="1250" dirty="0">
                          <a:solidFill>
                            <a:srgbClr val="1F2340"/>
                          </a:solidFill>
                          <a:latin typeface="Calibri"/>
                        </a:rPr>
                        <a:t>3188</a:t>
                      </a:r>
                      <a:r>
                        <a:rPr sz="1250" dirty="0">
                          <a:solidFill>
                            <a:srgbClr val="1F2340"/>
                          </a:solidFill>
                          <a:latin typeface="Calibri"/>
                        </a:rPr>
                        <a:t> (p = 0.000)</a:t>
                      </a:r>
                    </a:p>
                  </a:txBody>
                  <a:tcPr marL="109728" marR="109728" anchor="ctr">
                    <a:solidFill>
                      <a:srgbClr val="FFFFFF"/>
                    </a:solidFill>
                  </a:tcPr>
                </a:tc>
                <a:extLst>
                  <a:ext uri="{0D108BD9-81ED-4DB2-BD59-A6C34878D82A}">
                    <a16:rowId xmlns:a16="http://schemas.microsoft.com/office/drawing/2014/main" val="10003"/>
                  </a:ext>
                </a:extLst>
              </a:tr>
              <a:tr h="441960">
                <a:tc>
                  <a:txBody>
                    <a:bodyPr/>
                    <a:lstStyle/>
                    <a:p>
                      <a:pPr algn="l"/>
                      <a:r>
                        <a:rPr sz="1250">
                          <a:solidFill>
                            <a:srgbClr val="1F2340"/>
                          </a:solidFill>
                          <a:latin typeface="Calibri"/>
                        </a:rPr>
                        <a:t>T</a:t>
                      </a:r>
                    </a:p>
                  </a:txBody>
                  <a:tcPr marL="109728" marR="109728" anchor="ctr">
                    <a:solidFill>
                      <a:srgbClr val="F4F6FC"/>
                    </a:solidFill>
                  </a:tcPr>
                </a:tc>
                <a:tc>
                  <a:txBody>
                    <a:bodyPr/>
                    <a:lstStyle/>
                    <a:p>
                      <a:pPr algn="ctr"/>
                      <a:r>
                        <a:rPr sz="1250" dirty="0">
                          <a:solidFill>
                            <a:srgbClr val="1F2340"/>
                          </a:solidFill>
                          <a:latin typeface="Calibri"/>
                        </a:rPr>
                        <a:t>0.</a:t>
                      </a:r>
                      <a:r>
                        <a:rPr lang="en-IN" sz="1250" dirty="0">
                          <a:solidFill>
                            <a:srgbClr val="1F2340"/>
                          </a:solidFill>
                          <a:latin typeface="Calibri"/>
                        </a:rPr>
                        <a:t>0909</a:t>
                      </a:r>
                      <a:r>
                        <a:rPr sz="1250" dirty="0">
                          <a:solidFill>
                            <a:srgbClr val="1F2340"/>
                          </a:solidFill>
                          <a:latin typeface="Calibri"/>
                        </a:rPr>
                        <a:t> (p = 0.000)</a:t>
                      </a:r>
                    </a:p>
                  </a:txBody>
                  <a:tcPr marL="109728" marR="109728" anchor="ctr">
                    <a:solidFill>
                      <a:srgbClr val="F4F6FC"/>
                    </a:solidFill>
                  </a:tcPr>
                </a:tc>
                <a:extLst>
                  <a:ext uri="{0D108BD9-81ED-4DB2-BD59-A6C34878D82A}">
                    <a16:rowId xmlns:a16="http://schemas.microsoft.com/office/drawing/2014/main" val="10004"/>
                  </a:ext>
                </a:extLst>
              </a:tr>
              <a:tr h="441960">
                <a:tc>
                  <a:txBody>
                    <a:bodyPr/>
                    <a:lstStyle/>
                    <a:p>
                      <a:pPr algn="l"/>
                      <a:r>
                        <a:rPr sz="1250">
                          <a:solidFill>
                            <a:srgbClr val="1F2340"/>
                          </a:solidFill>
                          <a:latin typeface="Calibri"/>
                        </a:rPr>
                        <a:t>AH</a:t>
                      </a:r>
                    </a:p>
                  </a:txBody>
                  <a:tcPr marL="109728" marR="109728" anchor="ctr">
                    <a:solidFill>
                      <a:srgbClr val="FFFFFF"/>
                    </a:solidFill>
                  </a:tcPr>
                </a:tc>
                <a:tc>
                  <a:txBody>
                    <a:bodyPr/>
                    <a:lstStyle/>
                    <a:p>
                      <a:pPr algn="ctr"/>
                      <a:r>
                        <a:rPr sz="1250" dirty="0">
                          <a:solidFill>
                            <a:srgbClr val="1F2340"/>
                          </a:solidFill>
                          <a:latin typeface="Calibri"/>
                        </a:rPr>
                        <a:t>−</a:t>
                      </a:r>
                      <a:r>
                        <a:rPr lang="en-IN" sz="1250" dirty="0">
                          <a:solidFill>
                            <a:srgbClr val="1F2340"/>
                          </a:solidFill>
                          <a:latin typeface="Calibri"/>
                        </a:rPr>
                        <a:t>0.2176</a:t>
                      </a:r>
                      <a:r>
                        <a:rPr sz="1250" dirty="0">
                          <a:solidFill>
                            <a:srgbClr val="1F2340"/>
                          </a:solidFill>
                          <a:latin typeface="Calibri"/>
                        </a:rPr>
                        <a:t> (p = 0.000)</a:t>
                      </a:r>
                    </a:p>
                  </a:txBody>
                  <a:tcPr marL="109728" marR="109728" anchor="ctr">
                    <a:solidFill>
                      <a:srgbClr val="FFFFFF"/>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6629400" y="2468880"/>
            <a:ext cx="5029200" cy="3611880"/>
          </a:xfrm>
          <a:prstGeom prst="roundRect">
            <a:avLst>
              <a:gd name="adj" fmla="val 6000"/>
            </a:avLst>
          </a:prstGeom>
          <a:solidFill>
            <a:srgbClr val="FFFFFF"/>
          </a:solidFill>
          <a:ln w="12700">
            <a:solidFill>
              <a:srgbClr val="D9DE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6153912"/>
            <a:ext cx="5029200" cy="274320"/>
          </a:xfrm>
          <a:prstGeom prst="rect">
            <a:avLst/>
          </a:prstGeom>
          <a:noFill/>
        </p:spPr>
        <p:txBody>
          <a:bodyPr wrap="square">
            <a:spAutoFit/>
          </a:bodyPr>
          <a:lstStyle/>
          <a:p>
            <a:pPr algn="ctr"/>
            <a:r>
              <a:rPr sz="1100" i="1">
                <a:solidFill>
                  <a:srgbClr val="5B6488"/>
                </a:solidFill>
                <a:latin typeface="Calibri"/>
              </a:rPr>
              <a:t>Final Model: Residuals vs. Fitted Values</a:t>
            </a:r>
          </a:p>
        </p:txBody>
      </p:sp>
      <p:sp>
        <p:nvSpPr>
          <p:cNvPr id="13" name="TextBox 12"/>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14" name="TextBox 13"/>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13</a:t>
            </a:r>
          </a:p>
        </p:txBody>
      </p:sp>
      <p:cxnSp>
        <p:nvCxnSpPr>
          <p:cNvPr id="15" name="Connector 8">
            <a:extLst>
              <a:ext uri="{FF2B5EF4-FFF2-40B4-BE49-F238E27FC236}">
                <a16:creationId xmlns:a16="http://schemas.microsoft.com/office/drawing/2014/main" id="{D6BEC528-F741-23BA-8486-1D820A4022DC}"/>
              </a:ext>
            </a:extLst>
          </p:cNvPr>
          <p:cNvCxnSpPr>
            <a:cxnSpLocks/>
          </p:cNvCxnSpPr>
          <p:nvPr/>
        </p:nvCxnSpPr>
        <p:spPr>
          <a:xfrm>
            <a:off x="664339" y="1261498"/>
            <a:ext cx="5297922"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76564CD3-4E75-CFE8-E112-E57A59BAA2C7}"/>
              </a:ext>
            </a:extLst>
          </p:cNvPr>
          <p:cNvPicPr>
            <a:picLocks noChangeAspect="1"/>
          </p:cNvPicPr>
          <p:nvPr/>
        </p:nvPicPr>
        <p:blipFill>
          <a:blip r:embed="rId3"/>
          <a:stretch>
            <a:fillRect/>
          </a:stretch>
        </p:blipFill>
        <p:spPr>
          <a:xfrm>
            <a:off x="6848893" y="2499318"/>
            <a:ext cx="4489667" cy="34983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DISCUSSION</a:t>
            </a:r>
          </a:p>
        </p:txBody>
      </p:sp>
      <p:sp>
        <p:nvSpPr>
          <p:cNvPr id="4" name="TextBox 3"/>
          <p:cNvSpPr txBox="1"/>
          <p:nvPr/>
        </p:nvSpPr>
        <p:spPr>
          <a:xfrm>
            <a:off x="548640" y="658368"/>
            <a:ext cx="11064240" cy="538609"/>
          </a:xfrm>
          <a:prstGeom prst="rect">
            <a:avLst/>
          </a:prstGeom>
          <a:noFill/>
        </p:spPr>
        <p:txBody>
          <a:bodyPr wrap="square">
            <a:spAutoFit/>
          </a:bodyPr>
          <a:lstStyle/>
          <a:p>
            <a:pPr algn="l"/>
            <a:r>
              <a:rPr sz="2900" b="1" dirty="0">
                <a:latin typeface="Cambria"/>
              </a:rPr>
              <a:t>Discussion of Insights</a:t>
            </a:r>
          </a:p>
        </p:txBody>
      </p:sp>
      <p:sp>
        <p:nvSpPr>
          <p:cNvPr id="5" name="Rounded Rectangle 4"/>
          <p:cNvSpPr/>
          <p:nvPr/>
        </p:nvSpPr>
        <p:spPr>
          <a:xfrm>
            <a:off x="548640" y="1828800"/>
            <a:ext cx="3520440" cy="4114800"/>
          </a:xfrm>
          <a:prstGeom prst="roundRect">
            <a:avLst>
              <a:gd name="adj" fmla="val 6000"/>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14884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41A45"/>
                </a:solidFill>
                <a:latin typeface="Cambria"/>
              </a:rPr>
              <a:t>1</a:t>
            </a:r>
          </a:p>
        </p:txBody>
      </p:sp>
      <p:sp>
        <p:nvSpPr>
          <p:cNvPr id="7" name="TextBox 6"/>
          <p:cNvSpPr txBox="1"/>
          <p:nvPr/>
        </p:nvSpPr>
        <p:spPr>
          <a:xfrm>
            <a:off x="822960" y="2880360"/>
            <a:ext cx="3017520" cy="777240"/>
          </a:xfrm>
          <a:prstGeom prst="rect">
            <a:avLst/>
          </a:prstGeom>
          <a:noFill/>
        </p:spPr>
        <p:txBody>
          <a:bodyPr wrap="square">
            <a:spAutoFit/>
          </a:bodyPr>
          <a:lstStyle/>
          <a:p>
            <a:pPr algn="l"/>
            <a:r>
              <a:rPr sz="1500" b="1" dirty="0">
                <a:solidFill>
                  <a:srgbClr val="FFFFFF"/>
                </a:solidFill>
                <a:latin typeface="Cambria"/>
              </a:rPr>
              <a:t>The Carbon Monoxide Signal</a:t>
            </a:r>
          </a:p>
        </p:txBody>
      </p:sp>
      <p:sp>
        <p:nvSpPr>
          <p:cNvPr id="8" name="TextBox 7"/>
          <p:cNvSpPr txBox="1"/>
          <p:nvPr/>
        </p:nvSpPr>
        <p:spPr>
          <a:xfrm>
            <a:off x="822960" y="3360420"/>
            <a:ext cx="3017520" cy="2082301"/>
          </a:xfrm>
          <a:prstGeom prst="rect">
            <a:avLst/>
          </a:prstGeom>
          <a:noFill/>
        </p:spPr>
        <p:txBody>
          <a:bodyPr wrap="square">
            <a:spAutoFit/>
          </a:bodyPr>
          <a:lstStyle/>
          <a:p>
            <a:pPr algn="just">
              <a:lnSpc>
                <a:spcPct val="150000"/>
              </a:lnSpc>
            </a:pPr>
            <a:r>
              <a:rPr lang="en-US" sz="1250" dirty="0">
                <a:solidFill>
                  <a:srgbClr val="CADCFC"/>
                </a:solidFill>
                <a:latin typeface="Calibri"/>
              </a:rPr>
              <a:t>By evaluating the standardized Beta weights, the Carbon Monoxide (CO) sensor reading emerges as the absolute strongest positive predictor (0.66), having over seven times the proportional impact of Temperature (0.09) on the overall AQI score.</a:t>
            </a:r>
            <a:endParaRPr sz="1250" dirty="0">
              <a:solidFill>
                <a:srgbClr val="CADCFC"/>
              </a:solidFill>
              <a:latin typeface="Calibri"/>
            </a:endParaRPr>
          </a:p>
        </p:txBody>
      </p:sp>
      <p:sp>
        <p:nvSpPr>
          <p:cNvPr id="9" name="Rounded Rectangle 8"/>
          <p:cNvSpPr/>
          <p:nvPr/>
        </p:nvSpPr>
        <p:spPr>
          <a:xfrm>
            <a:off x="4343400" y="1828800"/>
            <a:ext cx="3520440" cy="4114800"/>
          </a:xfrm>
          <a:prstGeom prst="roundRect">
            <a:avLst>
              <a:gd name="adj" fmla="val 6000"/>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617720" y="214884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41A45"/>
                </a:solidFill>
                <a:latin typeface="Cambria"/>
              </a:rPr>
              <a:t>2</a:t>
            </a:r>
          </a:p>
        </p:txBody>
      </p:sp>
      <p:sp>
        <p:nvSpPr>
          <p:cNvPr id="11" name="TextBox 10"/>
          <p:cNvSpPr txBox="1"/>
          <p:nvPr/>
        </p:nvSpPr>
        <p:spPr>
          <a:xfrm>
            <a:off x="4617720" y="2880360"/>
            <a:ext cx="3017520" cy="777240"/>
          </a:xfrm>
          <a:prstGeom prst="rect">
            <a:avLst/>
          </a:prstGeom>
          <a:noFill/>
        </p:spPr>
        <p:txBody>
          <a:bodyPr wrap="square">
            <a:spAutoFit/>
          </a:bodyPr>
          <a:lstStyle/>
          <a:p>
            <a:pPr algn="l"/>
            <a:r>
              <a:rPr sz="1500" b="1">
                <a:solidFill>
                  <a:srgbClr val="FFFFFF"/>
                </a:solidFill>
                <a:latin typeface="Cambria"/>
              </a:rPr>
              <a:t>Commute-Time Interventions</a:t>
            </a:r>
          </a:p>
        </p:txBody>
      </p:sp>
      <p:sp>
        <p:nvSpPr>
          <p:cNvPr id="12" name="TextBox 11"/>
          <p:cNvSpPr txBox="1"/>
          <p:nvPr/>
        </p:nvSpPr>
        <p:spPr>
          <a:xfrm>
            <a:off x="4617720" y="3360420"/>
            <a:ext cx="3017520" cy="1793761"/>
          </a:xfrm>
          <a:prstGeom prst="rect">
            <a:avLst/>
          </a:prstGeom>
          <a:noFill/>
        </p:spPr>
        <p:txBody>
          <a:bodyPr wrap="square">
            <a:spAutoFit/>
          </a:bodyPr>
          <a:lstStyle/>
          <a:p>
            <a:pPr algn="just">
              <a:lnSpc>
                <a:spcPct val="150000"/>
              </a:lnSpc>
            </a:pPr>
            <a:r>
              <a:rPr sz="1250" dirty="0">
                <a:solidFill>
                  <a:srgbClr val="CADCFC"/>
                </a:solidFill>
                <a:latin typeface="Calibri"/>
              </a:rPr>
              <a:t>The dramatic commute-time emission spikes justify immediate policy interventions, such as targeted congestion pricing or staggered office hours, to effectively flatten the urban pollution curve.</a:t>
            </a:r>
          </a:p>
        </p:txBody>
      </p:sp>
      <p:sp>
        <p:nvSpPr>
          <p:cNvPr id="13" name="Rounded Rectangle 12"/>
          <p:cNvSpPr/>
          <p:nvPr/>
        </p:nvSpPr>
        <p:spPr>
          <a:xfrm>
            <a:off x="8138160" y="1828800"/>
            <a:ext cx="3520440" cy="4114800"/>
          </a:xfrm>
          <a:prstGeom prst="roundRect">
            <a:avLst>
              <a:gd name="adj" fmla="val 6000"/>
            </a:avLst>
          </a:prstGeom>
          <a:solidFill>
            <a:srgbClr val="141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412480" y="2148840"/>
            <a:ext cx="502920" cy="5029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41A45"/>
                </a:solidFill>
                <a:latin typeface="Cambria"/>
              </a:rPr>
              <a:t>3</a:t>
            </a:r>
          </a:p>
        </p:txBody>
      </p:sp>
      <p:sp>
        <p:nvSpPr>
          <p:cNvPr id="15" name="TextBox 14"/>
          <p:cNvSpPr txBox="1"/>
          <p:nvPr/>
        </p:nvSpPr>
        <p:spPr>
          <a:xfrm>
            <a:off x="8412480" y="2880360"/>
            <a:ext cx="3017520" cy="777240"/>
          </a:xfrm>
          <a:prstGeom prst="rect">
            <a:avLst/>
          </a:prstGeom>
          <a:noFill/>
        </p:spPr>
        <p:txBody>
          <a:bodyPr wrap="square">
            <a:spAutoFit/>
          </a:bodyPr>
          <a:lstStyle/>
          <a:p>
            <a:pPr algn="l"/>
            <a:r>
              <a:rPr sz="1500" b="1">
                <a:solidFill>
                  <a:srgbClr val="FFFFFF"/>
                </a:solidFill>
                <a:latin typeface="Cambria"/>
              </a:rPr>
              <a:t>The Humidity Effect</a:t>
            </a:r>
          </a:p>
        </p:txBody>
      </p:sp>
      <p:sp>
        <p:nvSpPr>
          <p:cNvPr id="16" name="TextBox 15"/>
          <p:cNvSpPr txBox="1"/>
          <p:nvPr/>
        </p:nvSpPr>
        <p:spPr>
          <a:xfrm>
            <a:off x="8412480" y="3360420"/>
            <a:ext cx="3017520" cy="1793761"/>
          </a:xfrm>
          <a:prstGeom prst="rect">
            <a:avLst/>
          </a:prstGeom>
          <a:noFill/>
        </p:spPr>
        <p:txBody>
          <a:bodyPr wrap="square">
            <a:spAutoFit/>
          </a:bodyPr>
          <a:lstStyle/>
          <a:p>
            <a:pPr algn="just">
              <a:lnSpc>
                <a:spcPct val="150000"/>
              </a:lnSpc>
            </a:pPr>
            <a:r>
              <a:rPr sz="1250" dirty="0">
                <a:solidFill>
                  <a:srgbClr val="CADCFC"/>
                </a:solidFill>
                <a:latin typeface="Calibri"/>
              </a:rPr>
              <a:t>Absolute </a:t>
            </a:r>
            <a:r>
              <a:rPr lang="en-US" sz="1250" dirty="0">
                <a:solidFill>
                  <a:srgbClr val="CADCFC"/>
                </a:solidFill>
                <a:latin typeface="Calibri"/>
              </a:rPr>
              <a:t>Humidity (AH) serves as a strong negative driver (standardized coefficient of -0.22), meaning higher atmospheric moisture significantly reduces AQI. This signals that dry, high-traffic days warrant the most severe public health warnings</a:t>
            </a:r>
            <a:r>
              <a:rPr sz="1250" dirty="0">
                <a:solidFill>
                  <a:srgbClr val="CADCFC"/>
                </a:solidFill>
                <a:latin typeface="Calibri"/>
              </a:rPr>
              <a:t>.</a:t>
            </a:r>
          </a:p>
        </p:txBody>
      </p:sp>
      <p:sp>
        <p:nvSpPr>
          <p:cNvPr id="17" name="TextBox 16"/>
          <p:cNvSpPr txBox="1"/>
          <p:nvPr/>
        </p:nvSpPr>
        <p:spPr>
          <a:xfrm>
            <a:off x="457200" y="6510528"/>
            <a:ext cx="6400800" cy="274320"/>
          </a:xfrm>
          <a:prstGeom prst="rect">
            <a:avLst/>
          </a:prstGeom>
          <a:noFill/>
        </p:spPr>
        <p:txBody>
          <a:bodyPr wrap="none">
            <a:spAutoFit/>
          </a:bodyPr>
          <a:lstStyle/>
          <a:p>
            <a:pPr algn="l"/>
            <a:r>
              <a:rPr sz="900">
                <a:solidFill>
                  <a:srgbClr val="8891C2"/>
                </a:solidFill>
                <a:latin typeface="Calibri"/>
              </a:rPr>
              <a:t>MBA652A · OLS Regression Analysis of AQI</a:t>
            </a:r>
          </a:p>
        </p:txBody>
      </p:sp>
      <p:sp>
        <p:nvSpPr>
          <p:cNvPr id="18" name="TextBox 17"/>
          <p:cNvSpPr txBox="1"/>
          <p:nvPr/>
        </p:nvSpPr>
        <p:spPr>
          <a:xfrm>
            <a:off x="11338560" y="6510528"/>
            <a:ext cx="457200" cy="274320"/>
          </a:xfrm>
          <a:prstGeom prst="rect">
            <a:avLst/>
          </a:prstGeom>
          <a:noFill/>
        </p:spPr>
        <p:txBody>
          <a:bodyPr wrap="none">
            <a:spAutoFit/>
          </a:bodyPr>
          <a:lstStyle/>
          <a:p>
            <a:pPr algn="r"/>
            <a:r>
              <a:rPr sz="900">
                <a:solidFill>
                  <a:srgbClr val="8891C2"/>
                </a:solidFill>
                <a:latin typeface="Calibri"/>
              </a:rPr>
              <a:t>14</a:t>
            </a:r>
          </a:p>
        </p:txBody>
      </p:sp>
      <p:cxnSp>
        <p:nvCxnSpPr>
          <p:cNvPr id="19" name="Connector 8">
            <a:extLst>
              <a:ext uri="{FF2B5EF4-FFF2-40B4-BE49-F238E27FC236}">
                <a16:creationId xmlns:a16="http://schemas.microsoft.com/office/drawing/2014/main" id="{F9CC7B11-E526-435D-F7A0-AD3018FE35B1}"/>
              </a:ext>
            </a:extLst>
          </p:cNvPr>
          <p:cNvCxnSpPr>
            <a:cxnSpLocks/>
          </p:cNvCxnSpPr>
          <p:nvPr/>
        </p:nvCxnSpPr>
        <p:spPr>
          <a:xfrm>
            <a:off x="664339" y="1261498"/>
            <a:ext cx="3515775"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65760"/>
            <a:ext cx="8229600" cy="320040"/>
          </a:xfrm>
          <a:prstGeom prst="rect">
            <a:avLst/>
          </a:prstGeom>
          <a:noFill/>
        </p:spPr>
        <p:txBody>
          <a:bodyPr wrap="square">
            <a:spAutoFit/>
          </a:bodyPr>
          <a:lstStyle/>
          <a:p>
            <a:pPr algn="l"/>
            <a:r>
              <a:rPr sz="1200" b="1" spc="150">
                <a:solidFill>
                  <a:srgbClr val="E8A33D"/>
                </a:solidFill>
                <a:latin typeface="Calibri"/>
              </a:rPr>
              <a:t>REFERENCES</a:t>
            </a:r>
          </a:p>
        </p:txBody>
      </p:sp>
      <p:sp>
        <p:nvSpPr>
          <p:cNvPr id="4" name="TextBox 3"/>
          <p:cNvSpPr txBox="1"/>
          <p:nvPr/>
        </p:nvSpPr>
        <p:spPr>
          <a:xfrm>
            <a:off x="548640" y="658368"/>
            <a:ext cx="11064240" cy="822960"/>
          </a:xfrm>
          <a:prstGeom prst="rect">
            <a:avLst/>
          </a:prstGeom>
          <a:noFill/>
        </p:spPr>
        <p:txBody>
          <a:bodyPr wrap="square">
            <a:spAutoFit/>
          </a:bodyPr>
          <a:lstStyle/>
          <a:p>
            <a:pPr algn="l"/>
            <a:r>
              <a:rPr sz="2900" b="1">
                <a:solidFill>
                  <a:srgbClr val="1E2761"/>
                </a:solidFill>
                <a:latin typeface="Cambria"/>
              </a:rPr>
              <a:t>References &amp; Code Appendix</a:t>
            </a:r>
          </a:p>
        </p:txBody>
      </p:sp>
      <p:sp>
        <p:nvSpPr>
          <p:cNvPr id="5" name="Rounded Rectangle 4"/>
          <p:cNvSpPr/>
          <p:nvPr/>
        </p:nvSpPr>
        <p:spPr>
          <a:xfrm>
            <a:off x="548640" y="1868923"/>
            <a:ext cx="11064240" cy="91440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868923"/>
            <a:ext cx="73152" cy="9144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78651"/>
            <a:ext cx="10058400" cy="320040"/>
          </a:xfrm>
          <a:prstGeom prst="rect">
            <a:avLst/>
          </a:prstGeom>
          <a:noFill/>
        </p:spPr>
        <p:txBody>
          <a:bodyPr wrap="square">
            <a:spAutoFit/>
          </a:bodyPr>
          <a:lstStyle/>
          <a:p>
            <a:pPr algn="l"/>
            <a:r>
              <a:rPr sz="1100" b="1" spc="100">
                <a:solidFill>
                  <a:srgbClr val="1E2761"/>
                </a:solidFill>
                <a:latin typeface="Calibri"/>
              </a:rPr>
              <a:t>DATASET</a:t>
            </a:r>
          </a:p>
        </p:txBody>
      </p:sp>
      <p:sp>
        <p:nvSpPr>
          <p:cNvPr id="8" name="TextBox 7">
            <a:hlinkClick r:id="rId2"/>
          </p:cNvPr>
          <p:cNvSpPr txBox="1"/>
          <p:nvPr/>
        </p:nvSpPr>
        <p:spPr>
          <a:xfrm>
            <a:off x="914400" y="2252971"/>
            <a:ext cx="10058400" cy="365760"/>
          </a:xfrm>
          <a:prstGeom prst="rect">
            <a:avLst/>
          </a:prstGeom>
          <a:noFill/>
        </p:spPr>
        <p:txBody>
          <a:bodyPr wrap="square">
            <a:spAutoFit/>
          </a:bodyPr>
          <a:lstStyle/>
          <a:p>
            <a:pPr algn="l"/>
            <a:r>
              <a:rPr sz="1450" b="1" i="0" dirty="0">
                <a:solidFill>
                  <a:srgbClr val="1F2340"/>
                </a:solidFill>
                <a:latin typeface="Calibri"/>
              </a:rPr>
              <a:t>UCI Machine Learning Repository — Air Quality Dataset</a:t>
            </a:r>
          </a:p>
        </p:txBody>
      </p:sp>
      <p:sp>
        <p:nvSpPr>
          <p:cNvPr id="10" name="Rounded Rectangle 9"/>
          <p:cNvSpPr/>
          <p:nvPr/>
        </p:nvSpPr>
        <p:spPr>
          <a:xfrm>
            <a:off x="548640" y="3209726"/>
            <a:ext cx="11064240" cy="91440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209726"/>
            <a:ext cx="73152" cy="91440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319454"/>
            <a:ext cx="10058400" cy="320040"/>
          </a:xfrm>
          <a:prstGeom prst="rect">
            <a:avLst/>
          </a:prstGeom>
          <a:noFill/>
        </p:spPr>
        <p:txBody>
          <a:bodyPr wrap="square">
            <a:spAutoFit/>
          </a:bodyPr>
          <a:lstStyle/>
          <a:p>
            <a:pPr algn="l"/>
            <a:r>
              <a:rPr sz="1100" b="1" spc="100">
                <a:solidFill>
                  <a:srgbClr val="1E2761"/>
                </a:solidFill>
                <a:latin typeface="Calibri"/>
              </a:rPr>
              <a:t>METHODOLOGY</a:t>
            </a:r>
          </a:p>
        </p:txBody>
      </p:sp>
      <p:sp>
        <p:nvSpPr>
          <p:cNvPr id="13" name="TextBox 12">
            <a:hlinkClick r:id="rId3"/>
          </p:cNvPr>
          <p:cNvSpPr txBox="1"/>
          <p:nvPr/>
        </p:nvSpPr>
        <p:spPr>
          <a:xfrm>
            <a:off x="914400" y="3593774"/>
            <a:ext cx="10058400" cy="365760"/>
          </a:xfrm>
          <a:prstGeom prst="rect">
            <a:avLst/>
          </a:prstGeom>
          <a:noFill/>
        </p:spPr>
        <p:txBody>
          <a:bodyPr wrap="square">
            <a:spAutoFit/>
          </a:bodyPr>
          <a:lstStyle/>
          <a:p>
            <a:pPr algn="l"/>
            <a:r>
              <a:rPr sz="1450" b="1" i="0" dirty="0" err="1">
                <a:solidFill>
                  <a:srgbClr val="1F2340"/>
                </a:solidFill>
                <a:latin typeface="Calibri"/>
              </a:rPr>
              <a:t>GeeksforGeeks</a:t>
            </a:r>
            <a:r>
              <a:rPr sz="1450" b="1" i="0" dirty="0">
                <a:solidFill>
                  <a:srgbClr val="1F2340"/>
                </a:solidFill>
                <a:latin typeface="Calibri"/>
              </a:rPr>
              <a:t> — Predicting Air Quality Index Using Python</a:t>
            </a:r>
          </a:p>
        </p:txBody>
      </p:sp>
      <p:sp>
        <p:nvSpPr>
          <p:cNvPr id="15" name="Rounded Rectangle 14"/>
          <p:cNvSpPr/>
          <p:nvPr/>
        </p:nvSpPr>
        <p:spPr>
          <a:xfrm>
            <a:off x="548640" y="4522548"/>
            <a:ext cx="11064240" cy="777240"/>
          </a:xfrm>
          <a:prstGeom prst="roundRect">
            <a:avLst>
              <a:gd name="adj" fmla="val 6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522548"/>
            <a:ext cx="73152" cy="777240"/>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632276"/>
            <a:ext cx="10058400" cy="320040"/>
          </a:xfrm>
          <a:prstGeom prst="rect">
            <a:avLst/>
          </a:prstGeom>
          <a:noFill/>
        </p:spPr>
        <p:txBody>
          <a:bodyPr wrap="square">
            <a:spAutoFit/>
          </a:bodyPr>
          <a:lstStyle/>
          <a:p>
            <a:pPr algn="l"/>
            <a:r>
              <a:rPr sz="1100" b="1" spc="100">
                <a:solidFill>
                  <a:srgbClr val="1E2761"/>
                </a:solidFill>
                <a:latin typeface="Calibri"/>
              </a:rPr>
              <a:t>AQI BREAKPOINTS</a:t>
            </a:r>
          </a:p>
        </p:txBody>
      </p:sp>
      <p:sp>
        <p:nvSpPr>
          <p:cNvPr id="18" name="TextBox 17">
            <a:hlinkClick r:id="rId4"/>
          </p:cNvPr>
          <p:cNvSpPr txBox="1"/>
          <p:nvPr/>
        </p:nvSpPr>
        <p:spPr>
          <a:xfrm>
            <a:off x="914400" y="4906596"/>
            <a:ext cx="10058400" cy="365760"/>
          </a:xfrm>
          <a:prstGeom prst="rect">
            <a:avLst/>
          </a:prstGeom>
          <a:noFill/>
        </p:spPr>
        <p:txBody>
          <a:bodyPr wrap="square">
            <a:spAutoFit/>
          </a:bodyPr>
          <a:lstStyle/>
          <a:p>
            <a:pPr algn="l"/>
            <a:r>
              <a:rPr sz="1450" b="1" i="0" dirty="0">
                <a:solidFill>
                  <a:srgbClr val="1F2340"/>
                </a:solidFill>
                <a:latin typeface="Calibri"/>
              </a:rPr>
              <a:t>Official US Environmental Protection Agency (EPA) AQI Technical Assistance Document</a:t>
            </a:r>
          </a:p>
        </p:txBody>
      </p:sp>
      <p:sp>
        <p:nvSpPr>
          <p:cNvPr id="21" name="TextBox 20"/>
          <p:cNvSpPr txBox="1"/>
          <p:nvPr/>
        </p:nvSpPr>
        <p:spPr>
          <a:xfrm>
            <a:off x="457200" y="6510528"/>
            <a:ext cx="6400800" cy="274320"/>
          </a:xfrm>
          <a:prstGeom prst="rect">
            <a:avLst/>
          </a:prstGeom>
          <a:noFill/>
        </p:spPr>
        <p:txBody>
          <a:bodyPr wrap="none">
            <a:spAutoFit/>
          </a:bodyPr>
          <a:lstStyle/>
          <a:p>
            <a:pPr algn="l"/>
            <a:r>
              <a:rPr sz="900">
                <a:solidFill>
                  <a:srgbClr val="5B6488"/>
                </a:solidFill>
                <a:latin typeface="Calibri"/>
              </a:rPr>
              <a:t>MBA652A · OLS Regression Analysis of AQI</a:t>
            </a:r>
          </a:p>
        </p:txBody>
      </p:sp>
      <p:sp>
        <p:nvSpPr>
          <p:cNvPr id="22" name="TextBox 21"/>
          <p:cNvSpPr txBox="1"/>
          <p:nvPr/>
        </p:nvSpPr>
        <p:spPr>
          <a:xfrm>
            <a:off x="11338560" y="6510528"/>
            <a:ext cx="457200" cy="274320"/>
          </a:xfrm>
          <a:prstGeom prst="rect">
            <a:avLst/>
          </a:prstGeom>
          <a:noFill/>
        </p:spPr>
        <p:txBody>
          <a:bodyPr wrap="none">
            <a:spAutoFit/>
          </a:bodyPr>
          <a:lstStyle/>
          <a:p>
            <a:pPr algn="r"/>
            <a:r>
              <a:rPr sz="900">
                <a:solidFill>
                  <a:srgbClr val="5B6488"/>
                </a:solidFill>
                <a:latin typeface="Calibri"/>
              </a:rPr>
              <a:t>15</a:t>
            </a:r>
          </a:p>
        </p:txBody>
      </p:sp>
      <p:cxnSp>
        <p:nvCxnSpPr>
          <p:cNvPr id="9" name="Connector 8">
            <a:extLst>
              <a:ext uri="{FF2B5EF4-FFF2-40B4-BE49-F238E27FC236}">
                <a16:creationId xmlns:a16="http://schemas.microsoft.com/office/drawing/2014/main" id="{2A6FC0B6-0914-CFFD-A82F-49EA66F2E194}"/>
              </a:ext>
            </a:extLst>
          </p:cNvPr>
          <p:cNvCxnSpPr>
            <a:cxnSpLocks/>
          </p:cNvCxnSpPr>
          <p:nvPr/>
        </p:nvCxnSpPr>
        <p:spPr>
          <a:xfrm>
            <a:off x="664339" y="1261498"/>
            <a:ext cx="4738085" cy="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692F2-D264-27FD-2E08-11EBD9061F80}"/>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F2A2D3D-8400-DD2D-4327-57949627E97E}"/>
              </a:ext>
            </a:extLst>
          </p:cNvPr>
          <p:cNvPicPr>
            <a:picLocks noChangeAspect="1"/>
          </p:cNvPicPr>
          <p:nvPr/>
        </p:nvPicPr>
        <p:blipFill>
          <a:blip r:embed="rId2"/>
          <a:srcRect t="13897" r="4191"/>
          <a:stretch>
            <a:fillRect/>
          </a:stretch>
        </p:blipFill>
        <p:spPr>
          <a:xfrm>
            <a:off x="-1" y="-1"/>
            <a:ext cx="12192001" cy="6858001"/>
          </a:xfrm>
          <a:prstGeom prst="rect">
            <a:avLst/>
          </a:prstGeom>
        </p:spPr>
      </p:pic>
      <p:sp>
        <p:nvSpPr>
          <p:cNvPr id="5" name="Oval 4">
            <a:extLst>
              <a:ext uri="{FF2B5EF4-FFF2-40B4-BE49-F238E27FC236}">
                <a16:creationId xmlns:a16="http://schemas.microsoft.com/office/drawing/2014/main" id="{2BDD8D9B-32C0-A117-E19D-1A2500308477}"/>
              </a:ext>
            </a:extLst>
          </p:cNvPr>
          <p:cNvSpPr/>
          <p:nvPr/>
        </p:nvSpPr>
        <p:spPr>
          <a:xfrm>
            <a:off x="10607040" y="822960"/>
            <a:ext cx="1005840" cy="100584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F554516-98DD-3F8C-8ACD-CF7C6D8F5ECE}"/>
              </a:ext>
            </a:extLst>
          </p:cNvPr>
          <p:cNvSpPr txBox="1"/>
          <p:nvPr/>
        </p:nvSpPr>
        <p:spPr>
          <a:xfrm>
            <a:off x="4037126" y="2703594"/>
            <a:ext cx="4117442" cy="784830"/>
          </a:xfrm>
          <a:prstGeom prst="rect">
            <a:avLst/>
          </a:prstGeom>
          <a:noFill/>
        </p:spPr>
        <p:txBody>
          <a:bodyPr wrap="square">
            <a:spAutoFit/>
          </a:bodyPr>
          <a:lstStyle/>
          <a:p>
            <a:pPr algn="l"/>
            <a:r>
              <a:rPr lang="en-IN" sz="4500" b="1" dirty="0">
                <a:solidFill>
                  <a:srgbClr val="FFFFFF"/>
                </a:solidFill>
                <a:latin typeface="Cambria"/>
              </a:rPr>
              <a:t>THANK YOU</a:t>
            </a:r>
            <a:endParaRPr sz="4500" b="1" dirty="0">
              <a:solidFill>
                <a:srgbClr val="FFFFFF"/>
              </a:solidFill>
              <a:latin typeface="Cambria"/>
            </a:endParaRPr>
          </a:p>
        </p:txBody>
      </p:sp>
      <p:sp>
        <p:nvSpPr>
          <p:cNvPr id="15" name="TextBox 14">
            <a:extLst>
              <a:ext uri="{FF2B5EF4-FFF2-40B4-BE49-F238E27FC236}">
                <a16:creationId xmlns:a16="http://schemas.microsoft.com/office/drawing/2014/main" id="{9C84FA82-3170-6F20-D29A-7D7E56A1F313}"/>
              </a:ext>
            </a:extLst>
          </p:cNvPr>
          <p:cNvSpPr txBox="1"/>
          <p:nvPr/>
        </p:nvSpPr>
        <p:spPr>
          <a:xfrm>
            <a:off x="457200" y="6510528"/>
            <a:ext cx="6400800" cy="274320"/>
          </a:xfrm>
          <a:prstGeom prst="rect">
            <a:avLst/>
          </a:prstGeom>
          <a:noFill/>
        </p:spPr>
        <p:txBody>
          <a:bodyPr wrap="none">
            <a:spAutoFit/>
          </a:bodyPr>
          <a:lstStyle/>
          <a:p>
            <a:pPr algn="l"/>
            <a:r>
              <a:rPr sz="900">
                <a:solidFill>
                  <a:srgbClr val="8891C2"/>
                </a:solidFill>
                <a:latin typeface="Calibri"/>
              </a:rPr>
              <a:t>MBA652A · OLS Regression Analysis of AQI</a:t>
            </a:r>
          </a:p>
        </p:txBody>
      </p:sp>
      <p:cxnSp>
        <p:nvCxnSpPr>
          <p:cNvPr id="17" name="Connector 8">
            <a:extLst>
              <a:ext uri="{FF2B5EF4-FFF2-40B4-BE49-F238E27FC236}">
                <a16:creationId xmlns:a16="http://schemas.microsoft.com/office/drawing/2014/main" id="{7FA7F503-2D81-B8A7-6521-401F91E7A069}"/>
              </a:ext>
            </a:extLst>
          </p:cNvPr>
          <p:cNvCxnSpPr>
            <a:cxnSpLocks/>
          </p:cNvCxnSpPr>
          <p:nvPr/>
        </p:nvCxnSpPr>
        <p:spPr>
          <a:xfrm flipV="1">
            <a:off x="4534678" y="3511743"/>
            <a:ext cx="2239346" cy="31550"/>
          </a:xfrm>
          <a:prstGeom prst="line">
            <a:avLst/>
          </a:prstGeom>
          <a:ln w="31750">
            <a:solidFill>
              <a:srgbClr val="E8A33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272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9B027B8D760E439FB8E3DEE8051852" ma:contentTypeVersion="4" ma:contentTypeDescription="Create a new document." ma:contentTypeScope="" ma:versionID="fb31e14e07568d6971f8bc94b6bf7e75">
  <xsd:schema xmlns:xsd="http://www.w3.org/2001/XMLSchema" xmlns:xs="http://www.w3.org/2001/XMLSchema" xmlns:p="http://schemas.microsoft.com/office/2006/metadata/properties" xmlns:ns3="0d8acd42-d9d8-4312-af1c-048829fbb6b8" targetNamespace="http://schemas.microsoft.com/office/2006/metadata/properties" ma:root="true" ma:fieldsID="88133a99e7fe9a8185d355c1721be973" ns3:_="">
    <xsd:import namespace="0d8acd42-d9d8-4312-af1c-048829fbb6b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8acd42-d9d8-4312-af1c-048829fbb6b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179286-4AC2-4D92-9BB9-1CC881F2CB79}">
  <ds:schemaRefs>
    <ds:schemaRef ds:uri="http://schemas.microsoft.com/sharepoint/v3/contenttype/forms"/>
  </ds:schemaRefs>
</ds:datastoreItem>
</file>

<file path=customXml/itemProps2.xml><?xml version="1.0" encoding="utf-8"?>
<ds:datastoreItem xmlns:ds="http://schemas.openxmlformats.org/officeDocument/2006/customXml" ds:itemID="{C19D71F1-58C3-4DF2-B52B-9C60405D5FBC}">
  <ds:schemaRefs>
    <ds:schemaRef ds:uri="http://schemas.microsoft.com/office/2006/documentManagement/types"/>
    <ds:schemaRef ds:uri="http://purl.org/dc/dcmitype/"/>
    <ds:schemaRef ds:uri="http://purl.org/dc/terms/"/>
    <ds:schemaRef ds:uri="http://www.w3.org/XML/1998/namespac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0d8acd42-d9d8-4312-af1c-048829fbb6b8"/>
  </ds:schemaRefs>
</ds:datastoreItem>
</file>

<file path=customXml/itemProps3.xml><?xml version="1.0" encoding="utf-8"?>
<ds:datastoreItem xmlns:ds="http://schemas.openxmlformats.org/officeDocument/2006/customXml" ds:itemID="{DF1C7E5C-9E97-437B-B1DB-C225E1E55C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8acd42-d9d8-4312-af1c-048829fbb6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321</TotalTime>
  <Words>1616</Words>
  <Application>Microsoft Office PowerPoint</Application>
  <PresentationFormat>Widescreen</PresentationFormat>
  <Paragraphs>221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STLM10</dc:creator>
  <cp:keywords/>
  <dc:description>generated using python-pptx</dc:description>
  <cp:lastModifiedBy>subhasmita mallick</cp:lastModifiedBy>
  <cp:revision>53</cp:revision>
  <dcterms:created xsi:type="dcterms:W3CDTF">2013-01-27T09:14:16Z</dcterms:created>
  <dcterms:modified xsi:type="dcterms:W3CDTF">2026-09-30T10:30:54Z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0x010100079B027B8D760E439FB8E3DEE8051852</vt:lpwstr>
  </property>
</Properties>
</file>